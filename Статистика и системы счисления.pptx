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embeddedFontLst>
    <p:embeddedFont>
      <p:font typeface="MiSans" panose="00000500000000000000" pitchFamily="34" charset="-122"/>
      <p:regular r:id="rId19"/>
    </p:embeddedFont>
    <p:embeddedFont>
      <p:font typeface="MiSans" panose="00000500000000000000" pitchFamily="34" charset="-120"/>
      <p:regular r:id="rId20"/>
    </p:embeddedFont>
    <p:embeddedFont>
      <p:font typeface="Alimama ShuHeiTi" pitchFamily="34" charset="-122"/>
      <p:bold r:id="rId21"/>
    </p:embeddedFont>
    <p:embeddedFont>
      <p:font typeface="Alimama ShuHeiTi" pitchFamily="34" charset="-120"/>
      <p:bold r:id="rId22"/>
    </p:embeddedFont>
    <p:embeddedFont>
      <p:font typeface="微软雅黑" panose="020B0503020204020204" pitchFamily="34" charset="-122"/>
      <p:regular r:id="rId23"/>
    </p:embeddedFont>
    <p:embeddedFont>
      <p:font typeface="微软雅黑" panose="020B05030202040202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b1059689218b7da7375cf776e70133d95e63c38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779" b="7779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5E81AC">
                  <a:alpha val="40000"/>
                </a:srgbClr>
              </a:gs>
            </a:gsLst>
            <a:lin ang="2700000" scaled="1"/>
          </a:gradFill>
        </p:spPr>
      </p:sp>
      <p:sp>
        <p:nvSpPr>
          <p:cNvPr id="6" name="Text 3"/>
          <p:cNvSpPr/>
          <p:nvPr/>
        </p:nvSpPr>
        <p:spPr>
          <a:xfrm>
            <a:off x="786765" y="1714500"/>
            <a:ext cx="922782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Статистика и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5E81AC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системы счисления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4080" y="3931920"/>
            <a:ext cx="921829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Программа на Python для статистического анализа данных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и преобразования между системами счисления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4159" y="526542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9" name="Text 6"/>
          <p:cNvSpPr/>
          <p:nvPr/>
        </p:nvSpPr>
        <p:spPr>
          <a:xfrm>
            <a:off x="1309688" y="5274945"/>
            <a:ext cx="638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Python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87523" y="525589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</p:spPr>
      </p:sp>
      <p:sp>
        <p:nvSpPr>
          <p:cNvPr id="11" name="Shape 8"/>
          <p:cNvSpPr/>
          <p:nvPr/>
        </p:nvSpPr>
        <p:spPr>
          <a:xfrm>
            <a:off x="2354223" y="52939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2" name="Text 9"/>
          <p:cNvSpPr/>
          <p:nvPr/>
        </p:nvSpPr>
        <p:spPr>
          <a:xfrm>
            <a:off x="2725698" y="5274945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Статистика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76437" y="525589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</p:spPr>
      </p:sp>
      <p:sp>
        <p:nvSpPr>
          <p:cNvPr id="14" name="Shape 11"/>
          <p:cNvSpPr/>
          <p:nvPr/>
        </p:nvSpPr>
        <p:spPr>
          <a:xfrm>
            <a:off x="4128849" y="529399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5" name="Text 12"/>
          <p:cNvSpPr/>
          <p:nvPr/>
        </p:nvSpPr>
        <p:spPr>
          <a:xfrm>
            <a:off x="4514612" y="5274945"/>
            <a:ext cx="172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Системы счисления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14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" name="Shape 2"/>
          <p:cNvSpPr/>
          <p:nvPr/>
        </p:nvSpPr>
        <p:spPr>
          <a:xfrm>
            <a:off x="384810" y="1261110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120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Text 4"/>
          <p:cNvSpPr/>
          <p:nvPr/>
        </p:nvSpPr>
        <p:spPr>
          <a:xfrm>
            <a:off x="531495" y="145542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55420"/>
            <a:ext cx="3048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Цель и актуальность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60220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Обоснование проекта и его применение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2210" y="1261110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55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Text 9"/>
          <p:cNvSpPr/>
          <p:nvPr/>
        </p:nvSpPr>
        <p:spPr>
          <a:xfrm>
            <a:off x="6398895" y="145542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56120" y="1455420"/>
            <a:ext cx="2057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Задачи проекта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56120" y="1760220"/>
            <a:ext cx="2038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Перечень решаемых задач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2604135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9120" y="27984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6" name="Text 14"/>
          <p:cNvSpPr/>
          <p:nvPr/>
        </p:nvSpPr>
        <p:spPr>
          <a:xfrm>
            <a:off x="531495" y="279844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798445"/>
            <a:ext cx="2952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Требования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103245"/>
            <a:ext cx="2933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Функциональные и нефункциональные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2210" y="2604135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79844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1" name="Text 19"/>
          <p:cNvSpPr/>
          <p:nvPr/>
        </p:nvSpPr>
        <p:spPr>
          <a:xfrm>
            <a:off x="6398895" y="279844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56120" y="2798445"/>
            <a:ext cx="3200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Технологии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56120" y="3103245"/>
            <a:ext cx="3181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Используемые инструменты и библиотеки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3947160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9120" y="41414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6" name="Text 24"/>
          <p:cNvSpPr/>
          <p:nvPr/>
        </p:nvSpPr>
        <p:spPr>
          <a:xfrm>
            <a:off x="531495" y="414147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141470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Реализация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44627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Код программы и архитектура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52210" y="3947160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1414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1" name="Text 29"/>
          <p:cNvSpPr/>
          <p:nvPr/>
        </p:nvSpPr>
        <p:spPr>
          <a:xfrm>
            <a:off x="6398895" y="414147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6120" y="4141470"/>
            <a:ext cx="3143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6120" y="444627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Результаты проверки работоспособности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5290185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9120" y="54844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6" name="Text 34"/>
          <p:cNvSpPr/>
          <p:nvPr/>
        </p:nvSpPr>
        <p:spPr>
          <a:xfrm>
            <a:off x="531495" y="548449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5484495"/>
            <a:ext cx="3162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Сравнительный анализ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88720" y="5789295"/>
            <a:ext cx="3143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Сравнение с существующими решениями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52210" y="5290185"/>
            <a:ext cx="5551170" cy="1179195"/>
          </a:xfrm>
          <a:custGeom>
            <a:avLst/>
            <a:gdLst/>
            <a:ahLst/>
            <a:cxnLst/>
            <a:rect l="l" t="t" r="r" b="b"/>
            <a:pathLst>
              <a:path w="5551170" h="1179195">
                <a:moveTo>
                  <a:pt x="114299" y="0"/>
                </a:moveTo>
                <a:lnTo>
                  <a:pt x="5436871" y="0"/>
                </a:lnTo>
                <a:cubicBezTo>
                  <a:pt x="5499996" y="0"/>
                  <a:pt x="5551170" y="51174"/>
                  <a:pt x="5551170" y="114299"/>
                </a:cubicBezTo>
                <a:lnTo>
                  <a:pt x="5551170" y="1064896"/>
                </a:lnTo>
                <a:cubicBezTo>
                  <a:pt x="5551170" y="1128021"/>
                  <a:pt x="5499996" y="1179195"/>
                  <a:pt x="5436871" y="1179195"/>
                </a:cubicBezTo>
                <a:lnTo>
                  <a:pt x="114299" y="1179195"/>
                </a:lnTo>
                <a:cubicBezTo>
                  <a:pt x="51174" y="1179195"/>
                  <a:pt x="0" y="1128021"/>
                  <a:pt x="0" y="10648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548449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1" name="Text 39"/>
          <p:cNvSpPr/>
          <p:nvPr/>
        </p:nvSpPr>
        <p:spPr>
          <a:xfrm>
            <a:off x="6398895" y="5484495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56120" y="5484495"/>
            <a:ext cx="2105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56120" y="5789295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Итоги и выводы по проекту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1534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Цель и актуальность проекта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254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384810" y="1543050"/>
            <a:ext cx="5589270" cy="2131695"/>
          </a:xfrm>
          <a:custGeom>
            <a:avLst/>
            <a:gdLst/>
            <a:ahLst/>
            <a:cxnLst/>
            <a:rect l="l" t="t" r="r" b="b"/>
            <a:pathLst>
              <a:path w="5589270" h="2131695">
                <a:moveTo>
                  <a:pt x="114301" y="0"/>
                </a:moveTo>
                <a:lnTo>
                  <a:pt x="5474969" y="0"/>
                </a:lnTo>
                <a:cubicBezTo>
                  <a:pt x="5538095" y="0"/>
                  <a:pt x="5589270" y="51175"/>
                  <a:pt x="5589270" y="114301"/>
                </a:cubicBezTo>
                <a:lnTo>
                  <a:pt x="5589270" y="2017394"/>
                </a:lnTo>
                <a:cubicBezTo>
                  <a:pt x="5589270" y="2080520"/>
                  <a:pt x="5538095" y="2131695"/>
                  <a:pt x="5474969" y="2131695"/>
                </a:cubicBezTo>
                <a:lnTo>
                  <a:pt x="114301" y="2131695"/>
                </a:lnTo>
                <a:cubicBezTo>
                  <a:pt x="51175" y="2131695"/>
                  <a:pt x="0" y="2080520"/>
                  <a:pt x="0" y="2017394"/>
                </a:cubicBezTo>
                <a:lnTo>
                  <a:pt x="0" y="114301"/>
                </a:lnTo>
                <a:cubicBezTo>
                  <a:pt x="0" y="51175"/>
                  <a:pt x="51175" y="0"/>
                  <a:pt x="11430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7754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724376" y="188023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9" name="Text 7"/>
          <p:cNvSpPr/>
          <p:nvPr/>
        </p:nvSpPr>
        <p:spPr>
          <a:xfrm>
            <a:off x="1112520" y="1813560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Цель проекта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308860"/>
            <a:ext cx="52006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Разработать программу для расчета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основных статистических показателей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набора чисел и преобразования между различными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системами счисления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874770"/>
            <a:ext cx="5589270" cy="2598420"/>
          </a:xfrm>
          <a:custGeom>
            <a:avLst/>
            <a:gdLst/>
            <a:ahLst/>
            <a:cxnLst/>
            <a:rect l="l" t="t" r="r" b="b"/>
            <a:pathLst>
              <a:path w="5589270" h="2598420">
                <a:moveTo>
                  <a:pt x="114304" y="0"/>
                </a:moveTo>
                <a:lnTo>
                  <a:pt x="5474966" y="0"/>
                </a:lnTo>
                <a:cubicBezTo>
                  <a:pt x="5538094" y="0"/>
                  <a:pt x="5589270" y="51176"/>
                  <a:pt x="5589270" y="114304"/>
                </a:cubicBezTo>
                <a:lnTo>
                  <a:pt x="5589270" y="2484116"/>
                </a:lnTo>
                <a:cubicBezTo>
                  <a:pt x="5589270" y="2547244"/>
                  <a:pt x="5538094" y="2598420"/>
                  <a:pt x="5474966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" y="41071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3" name="Shape 11"/>
          <p:cNvSpPr/>
          <p:nvPr/>
        </p:nvSpPr>
        <p:spPr>
          <a:xfrm>
            <a:off x="745808" y="421195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14" name="Text 12"/>
          <p:cNvSpPr/>
          <p:nvPr/>
        </p:nvSpPr>
        <p:spPr>
          <a:xfrm>
            <a:off x="1112520" y="4145281"/>
            <a:ext cx="2143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Почему это важно?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270" y="467868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6" name="Text 14"/>
          <p:cNvSpPr/>
          <p:nvPr/>
        </p:nvSpPr>
        <p:spPr>
          <a:xfrm>
            <a:off x="922020" y="4640581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Универсальность применения: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статистика используется в математике, экономике, программировании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6270" y="52501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8" name="Text 16"/>
          <p:cNvSpPr/>
          <p:nvPr/>
        </p:nvSpPr>
        <p:spPr>
          <a:xfrm>
            <a:off x="922020" y="5212080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Востребованный навык: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умение обрабатывать данные критично для современного специалиста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270" y="58216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0" name="Text 18"/>
          <p:cNvSpPr/>
          <p:nvPr/>
        </p:nvSpPr>
        <p:spPr>
          <a:xfrm>
            <a:off x="922020" y="5783580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Практическая ценность: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демонстрация базовых методов на реальных задачах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4110" y="1543050"/>
            <a:ext cx="5589270" cy="4932045"/>
          </a:xfrm>
          <a:custGeom>
            <a:avLst/>
            <a:gdLst/>
            <a:ahLst/>
            <a:cxnLst/>
            <a:rect l="l" t="t" r="r" b="b"/>
            <a:pathLst>
              <a:path w="5589270" h="4932045">
                <a:moveTo>
                  <a:pt x="114275" y="0"/>
                </a:moveTo>
                <a:lnTo>
                  <a:pt x="5474995" y="0"/>
                </a:lnTo>
                <a:cubicBezTo>
                  <a:pt x="5538107" y="0"/>
                  <a:pt x="5589270" y="51163"/>
                  <a:pt x="5589270" y="114275"/>
                </a:cubicBezTo>
                <a:lnTo>
                  <a:pt x="5589270" y="4817770"/>
                </a:lnTo>
                <a:cubicBezTo>
                  <a:pt x="5589270" y="4880882"/>
                  <a:pt x="5538107" y="4932045"/>
                  <a:pt x="5474995" y="4932045"/>
                </a:cubicBezTo>
                <a:lnTo>
                  <a:pt x="114275" y="4932045"/>
                </a:lnTo>
                <a:cubicBezTo>
                  <a:pt x="51163" y="4932045"/>
                  <a:pt x="0" y="4880882"/>
                  <a:pt x="0" y="4817770"/>
                </a:cubicBezTo>
                <a:lnTo>
                  <a:pt x="0" y="114275"/>
                </a:lnTo>
                <a:cubicBezTo>
                  <a:pt x="0" y="51163"/>
                  <a:pt x="51163" y="0"/>
                  <a:pt x="11427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17754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3" name="Shape 21"/>
          <p:cNvSpPr/>
          <p:nvPr/>
        </p:nvSpPr>
        <p:spPr>
          <a:xfrm>
            <a:off x="6553676" y="188023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ECEFF4"/>
          </a:solidFill>
        </p:spPr>
      </p:sp>
      <p:sp>
        <p:nvSpPr>
          <p:cNvPr id="24" name="Text 22"/>
          <p:cNvSpPr/>
          <p:nvPr/>
        </p:nvSpPr>
        <p:spPr>
          <a:xfrm>
            <a:off x="6941820" y="1813560"/>
            <a:ext cx="327787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Области применения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50330" y="2350770"/>
            <a:ext cx="2484120" cy="1264920"/>
          </a:xfrm>
          <a:custGeom>
            <a:avLst/>
            <a:gdLst/>
            <a:ahLst/>
            <a:cxnLst/>
            <a:rect l="l" t="t" r="r" b="b"/>
            <a:pathLst>
              <a:path w="2484120" h="1264920">
                <a:moveTo>
                  <a:pt x="76199" y="0"/>
                </a:moveTo>
                <a:lnTo>
                  <a:pt x="2407921" y="0"/>
                </a:lnTo>
                <a:cubicBezTo>
                  <a:pt x="2450005" y="0"/>
                  <a:pt x="2484120" y="34115"/>
                  <a:pt x="2484120" y="76199"/>
                </a:cubicBezTo>
                <a:lnTo>
                  <a:pt x="2484120" y="1188721"/>
                </a:lnTo>
                <a:cubicBezTo>
                  <a:pt x="2484120" y="1230805"/>
                  <a:pt x="2450005" y="1264920"/>
                  <a:pt x="24079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58928" y="26022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6176" y="34870"/>
                </a:moveTo>
                <a:cubicBezTo>
                  <a:pt x="129748" y="22681"/>
                  <a:pt x="140910" y="14287"/>
                  <a:pt x="153591" y="14287"/>
                </a:cubicBezTo>
                <a:lnTo>
                  <a:pt x="242888" y="14287"/>
                </a:lnTo>
                <a:cubicBezTo>
                  <a:pt x="250790" y="14287"/>
                  <a:pt x="257175" y="20672"/>
                  <a:pt x="257175" y="28575"/>
                </a:cubicBezTo>
                <a:cubicBezTo>
                  <a:pt x="257175" y="36478"/>
                  <a:pt x="250790" y="42863"/>
                  <a:pt x="242888" y="42863"/>
                </a:cubicBezTo>
                <a:lnTo>
                  <a:pt x="153591" y="42863"/>
                </a:lnTo>
                <a:lnTo>
                  <a:pt x="106576" y="204043"/>
                </a:lnTo>
                <a:cubicBezTo>
                  <a:pt x="104968" y="209535"/>
                  <a:pt x="100280" y="213509"/>
                  <a:pt x="94610" y="214223"/>
                </a:cubicBezTo>
                <a:cubicBezTo>
                  <a:pt x="88940" y="214938"/>
                  <a:pt x="83403" y="212169"/>
                  <a:pt x="80546" y="207258"/>
                </a:cubicBezTo>
                <a:lnTo>
                  <a:pt x="34647" y="128588"/>
                </a:ln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34647" y="100013"/>
                </a:lnTo>
                <a:cubicBezTo>
                  <a:pt x="44827" y="100013"/>
                  <a:pt x="54203" y="105415"/>
                  <a:pt x="59338" y="114211"/>
                </a:cubicBezTo>
                <a:lnTo>
                  <a:pt x="88449" y="164128"/>
                </a:lnTo>
                <a:lnTo>
                  <a:pt x="126132" y="34870"/>
                </a:lnTo>
                <a:close/>
                <a:moveTo>
                  <a:pt x="175647" y="104209"/>
                </a:moveTo>
                <a:cubicBezTo>
                  <a:pt x="181228" y="98628"/>
                  <a:pt x="190292" y="98628"/>
                  <a:pt x="195873" y="104209"/>
                </a:cubicBezTo>
                <a:lnTo>
                  <a:pt x="214357" y="122694"/>
                </a:lnTo>
                <a:lnTo>
                  <a:pt x="232842" y="104209"/>
                </a:lnTo>
                <a:cubicBezTo>
                  <a:pt x="238423" y="98628"/>
                  <a:pt x="247486" y="98628"/>
                  <a:pt x="253067" y="104209"/>
                </a:cubicBezTo>
                <a:cubicBezTo>
                  <a:pt x="258648" y="109791"/>
                  <a:pt x="258648" y="118854"/>
                  <a:pt x="253067" y="124435"/>
                </a:cubicBezTo>
                <a:lnTo>
                  <a:pt x="234583" y="142920"/>
                </a:lnTo>
                <a:lnTo>
                  <a:pt x="253067" y="161404"/>
                </a:lnTo>
                <a:cubicBezTo>
                  <a:pt x="258648" y="166985"/>
                  <a:pt x="258648" y="176049"/>
                  <a:pt x="253067" y="181630"/>
                </a:cubicBezTo>
                <a:cubicBezTo>
                  <a:pt x="247486" y="187211"/>
                  <a:pt x="238423" y="187211"/>
                  <a:pt x="232842" y="181630"/>
                </a:cubicBezTo>
                <a:lnTo>
                  <a:pt x="214357" y="163145"/>
                </a:lnTo>
                <a:lnTo>
                  <a:pt x="195873" y="181630"/>
                </a:lnTo>
                <a:cubicBezTo>
                  <a:pt x="190292" y="187211"/>
                  <a:pt x="181228" y="187211"/>
                  <a:pt x="175647" y="181630"/>
                </a:cubicBezTo>
                <a:cubicBezTo>
                  <a:pt x="170066" y="176049"/>
                  <a:pt x="170066" y="166985"/>
                  <a:pt x="175647" y="161404"/>
                </a:cubicBezTo>
                <a:lnTo>
                  <a:pt x="194131" y="142920"/>
                </a:lnTo>
                <a:lnTo>
                  <a:pt x="175647" y="124435"/>
                </a:lnTo>
                <a:cubicBezTo>
                  <a:pt x="170066" y="118854"/>
                  <a:pt x="170066" y="109791"/>
                  <a:pt x="175647" y="10420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7" name="Text 25"/>
          <p:cNvSpPr/>
          <p:nvPr/>
        </p:nvSpPr>
        <p:spPr>
          <a:xfrm>
            <a:off x="7044690" y="2583181"/>
            <a:ext cx="107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Математика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44640" y="2926081"/>
            <a:ext cx="2171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Анализ числовых данных, вычисление показателей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90660" y="2350770"/>
            <a:ext cx="2484120" cy="1264920"/>
          </a:xfrm>
          <a:custGeom>
            <a:avLst/>
            <a:gdLst/>
            <a:ahLst/>
            <a:cxnLst/>
            <a:rect l="l" t="t" r="r" b="b"/>
            <a:pathLst>
              <a:path w="2484120" h="1264920">
                <a:moveTo>
                  <a:pt x="76199" y="0"/>
                </a:moveTo>
                <a:lnTo>
                  <a:pt x="2407921" y="0"/>
                </a:lnTo>
                <a:cubicBezTo>
                  <a:pt x="2450005" y="0"/>
                  <a:pt x="2484120" y="34115"/>
                  <a:pt x="2484120" y="76199"/>
                </a:cubicBezTo>
                <a:lnTo>
                  <a:pt x="2484120" y="1188721"/>
                </a:lnTo>
                <a:cubicBezTo>
                  <a:pt x="2484120" y="1230805"/>
                  <a:pt x="2450005" y="1264920"/>
                  <a:pt x="24079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13545" y="26022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1" name="Text 29"/>
          <p:cNvSpPr/>
          <p:nvPr/>
        </p:nvSpPr>
        <p:spPr>
          <a:xfrm>
            <a:off x="9685020" y="2583181"/>
            <a:ext cx="981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Экономика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84970" y="2926081"/>
            <a:ext cx="2171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Финансовый анализ, прогнозирование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50330" y="3775710"/>
            <a:ext cx="2484120" cy="1264920"/>
          </a:xfrm>
          <a:custGeom>
            <a:avLst/>
            <a:gdLst/>
            <a:ahLst/>
            <a:cxnLst/>
            <a:rect l="l" t="t" r="r" b="b"/>
            <a:pathLst>
              <a:path w="2484120" h="1264920">
                <a:moveTo>
                  <a:pt x="76199" y="0"/>
                </a:moveTo>
                <a:lnTo>
                  <a:pt x="2407921" y="0"/>
                </a:lnTo>
                <a:cubicBezTo>
                  <a:pt x="2450005" y="0"/>
                  <a:pt x="2484120" y="34115"/>
                  <a:pt x="2484120" y="76199"/>
                </a:cubicBezTo>
                <a:lnTo>
                  <a:pt x="2484120" y="1188721"/>
                </a:lnTo>
                <a:cubicBezTo>
                  <a:pt x="2484120" y="1230805"/>
                  <a:pt x="2450005" y="1264920"/>
                  <a:pt x="24079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4640" y="402717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228600" y="14288"/>
                </a:lnTo>
                <a:cubicBezTo>
                  <a:pt x="244361" y="14288"/>
                  <a:pt x="257175" y="27102"/>
                  <a:pt x="257175" y="42863"/>
                </a:cubicBezTo>
                <a:lnTo>
                  <a:pt x="257175" y="150019"/>
                </a:lnTo>
                <a:lnTo>
                  <a:pt x="228600" y="150019"/>
                </a:lnTo>
                <a:lnTo>
                  <a:pt x="228600" y="42863"/>
                </a:lnTo>
                <a:lnTo>
                  <a:pt x="57150" y="42863"/>
                </a:lnTo>
                <a:lnTo>
                  <a:pt x="57150" y="150019"/>
                </a:lnTo>
                <a:lnTo>
                  <a:pt x="28575" y="150019"/>
                </a:lnTo>
                <a:lnTo>
                  <a:pt x="28575" y="42863"/>
                </a:lnTo>
                <a:close/>
                <a:moveTo>
                  <a:pt x="0" y="180023"/>
                </a:moveTo>
                <a:cubicBezTo>
                  <a:pt x="0" y="175290"/>
                  <a:pt x="3840" y="171450"/>
                  <a:pt x="8573" y="171450"/>
                </a:cubicBezTo>
                <a:lnTo>
                  <a:pt x="277178" y="171450"/>
                </a:lnTo>
                <a:cubicBezTo>
                  <a:pt x="281910" y="171450"/>
                  <a:pt x="285750" y="175290"/>
                  <a:pt x="285750" y="180023"/>
                </a:cubicBezTo>
                <a:cubicBezTo>
                  <a:pt x="285750" y="198953"/>
                  <a:pt x="270391" y="214313"/>
                  <a:pt x="251460" y="214313"/>
                </a:cubicBezTo>
                <a:lnTo>
                  <a:pt x="34290" y="214313"/>
                </a:lnTo>
                <a:cubicBezTo>
                  <a:pt x="15359" y="214313"/>
                  <a:pt x="0" y="198953"/>
                  <a:pt x="0" y="180023"/>
                </a:cubicBezTo>
                <a:close/>
                <a:moveTo>
                  <a:pt x="125462" y="93315"/>
                </a:moveTo>
                <a:lnTo>
                  <a:pt x="111621" y="107156"/>
                </a:lnTo>
                <a:lnTo>
                  <a:pt x="125462" y="120997"/>
                </a:lnTo>
                <a:cubicBezTo>
                  <a:pt x="129659" y="125194"/>
                  <a:pt x="129659" y="131981"/>
                  <a:pt x="125462" y="136133"/>
                </a:cubicBezTo>
                <a:cubicBezTo>
                  <a:pt x="121265" y="140285"/>
                  <a:pt x="114479" y="140330"/>
                  <a:pt x="110326" y="136133"/>
                </a:cubicBezTo>
                <a:lnTo>
                  <a:pt x="88895" y="114702"/>
                </a:lnTo>
                <a:cubicBezTo>
                  <a:pt x="84698" y="110505"/>
                  <a:pt x="84698" y="103718"/>
                  <a:pt x="88895" y="99566"/>
                </a:cubicBezTo>
                <a:lnTo>
                  <a:pt x="110326" y="78135"/>
                </a:lnTo>
                <a:cubicBezTo>
                  <a:pt x="114523" y="73938"/>
                  <a:pt x="121310" y="73938"/>
                  <a:pt x="125462" y="78135"/>
                </a:cubicBezTo>
                <a:cubicBezTo>
                  <a:pt x="129614" y="82332"/>
                  <a:pt x="129659" y="89118"/>
                  <a:pt x="125462" y="93271"/>
                </a:cubicBezTo>
                <a:close/>
                <a:moveTo>
                  <a:pt x="175468" y="78135"/>
                </a:moveTo>
                <a:lnTo>
                  <a:pt x="196900" y="99566"/>
                </a:lnTo>
                <a:cubicBezTo>
                  <a:pt x="201097" y="103763"/>
                  <a:pt x="201097" y="110550"/>
                  <a:pt x="196900" y="114702"/>
                </a:cubicBezTo>
                <a:lnTo>
                  <a:pt x="175468" y="136133"/>
                </a:lnTo>
                <a:cubicBezTo>
                  <a:pt x="171271" y="140330"/>
                  <a:pt x="164485" y="140330"/>
                  <a:pt x="160333" y="136133"/>
                </a:cubicBezTo>
                <a:cubicBezTo>
                  <a:pt x="156180" y="131936"/>
                  <a:pt x="156136" y="125150"/>
                  <a:pt x="160333" y="120997"/>
                </a:cubicBezTo>
                <a:lnTo>
                  <a:pt x="174174" y="107156"/>
                </a:lnTo>
                <a:lnTo>
                  <a:pt x="160333" y="93315"/>
                </a:lnTo>
                <a:cubicBezTo>
                  <a:pt x="156136" y="89118"/>
                  <a:pt x="156136" y="82332"/>
                  <a:pt x="160333" y="78179"/>
                </a:cubicBezTo>
                <a:cubicBezTo>
                  <a:pt x="164529" y="74027"/>
                  <a:pt x="171316" y="73982"/>
                  <a:pt x="175468" y="7817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5" name="Text 33"/>
          <p:cNvSpPr/>
          <p:nvPr/>
        </p:nvSpPr>
        <p:spPr>
          <a:xfrm>
            <a:off x="7044690" y="4008120"/>
            <a:ext cx="168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44640" y="4351020"/>
            <a:ext cx="2171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Обработка данных, работа с памятью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90660" y="3775710"/>
            <a:ext cx="2484120" cy="1264920"/>
          </a:xfrm>
          <a:custGeom>
            <a:avLst/>
            <a:gdLst/>
            <a:ahLst/>
            <a:cxnLst/>
            <a:rect l="l" t="t" r="r" b="b"/>
            <a:pathLst>
              <a:path w="2484120" h="1264920">
                <a:moveTo>
                  <a:pt x="76199" y="0"/>
                </a:moveTo>
                <a:lnTo>
                  <a:pt x="2407921" y="0"/>
                </a:lnTo>
                <a:cubicBezTo>
                  <a:pt x="2450005" y="0"/>
                  <a:pt x="2484120" y="34115"/>
                  <a:pt x="2484120" y="76199"/>
                </a:cubicBezTo>
                <a:lnTo>
                  <a:pt x="2484120" y="1188721"/>
                </a:lnTo>
                <a:cubicBezTo>
                  <a:pt x="2484120" y="1230805"/>
                  <a:pt x="2450005" y="1264920"/>
                  <a:pt x="2407921" y="1264920"/>
                </a:cubicBezTo>
                <a:lnTo>
                  <a:pt x="76199" y="1264920"/>
                </a:lnTo>
                <a:cubicBezTo>
                  <a:pt x="34115" y="1264920"/>
                  <a:pt x="0" y="1230805"/>
                  <a:pt x="0" y="11887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27832" y="402717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9" name="Text 37"/>
          <p:cNvSpPr/>
          <p:nvPr/>
        </p:nvSpPr>
        <p:spPr>
          <a:xfrm>
            <a:off x="9685020" y="4008120"/>
            <a:ext cx="561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Наука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84970" y="4351020"/>
            <a:ext cx="2171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Статистическая обработка экспериментов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50330" y="5238751"/>
            <a:ext cx="5122545" cy="998220"/>
          </a:xfrm>
          <a:custGeom>
            <a:avLst/>
            <a:gdLst/>
            <a:ahLst/>
            <a:cxnLst/>
            <a:rect l="l" t="t" r="r" b="b"/>
            <a:pathLst>
              <a:path w="5122545" h="998220">
                <a:moveTo>
                  <a:pt x="76204" y="0"/>
                </a:moveTo>
                <a:lnTo>
                  <a:pt x="5046341" y="0"/>
                </a:lnTo>
                <a:cubicBezTo>
                  <a:pt x="5088427" y="0"/>
                  <a:pt x="5122545" y="34118"/>
                  <a:pt x="5122545" y="76204"/>
                </a:cubicBezTo>
                <a:lnTo>
                  <a:pt x="5122545" y="922016"/>
                </a:lnTo>
                <a:cubicBezTo>
                  <a:pt x="5122545" y="964102"/>
                  <a:pt x="5088427" y="998220"/>
                  <a:pt x="50463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1AC">
              <a:alpha val="10196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5590" y="54330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3" name="Text 41"/>
          <p:cNvSpPr/>
          <p:nvPr/>
        </p:nvSpPr>
        <p:spPr>
          <a:xfrm>
            <a:off x="6854190" y="5394961"/>
            <a:ext cx="463867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Ключевой вывод: Данный проект демонстрирует практическое применение основных статистических методов, что делает его ценным образовательным и практическим инструментом.</a:t>
            </a:r>
            <a:endParaRPr lang="en-US" sz="1200" b="1" dirty="0">
              <a:solidFill>
                <a:srgbClr val="ECEFF4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15341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Задачи проекта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2541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384810" y="1504951"/>
            <a:ext cx="3674745" cy="2512695"/>
          </a:xfrm>
          <a:custGeom>
            <a:avLst/>
            <a:gdLst/>
            <a:ahLst/>
            <a:cxnLst/>
            <a:rect l="l" t="t" r="r" b="b"/>
            <a:pathLst>
              <a:path w="3674745" h="2512695">
                <a:moveTo>
                  <a:pt x="114302" y="0"/>
                </a:moveTo>
                <a:lnTo>
                  <a:pt x="3560443" y="0"/>
                </a:lnTo>
                <a:cubicBezTo>
                  <a:pt x="3623570" y="0"/>
                  <a:pt x="3674745" y="51175"/>
                  <a:pt x="3674745" y="114302"/>
                </a:cubicBezTo>
                <a:lnTo>
                  <a:pt x="3674745" y="2398393"/>
                </a:lnTo>
                <a:cubicBezTo>
                  <a:pt x="3674745" y="2461520"/>
                  <a:pt x="3623570" y="2512695"/>
                  <a:pt x="3560443" y="2512695"/>
                </a:cubicBezTo>
                <a:lnTo>
                  <a:pt x="114302" y="2512695"/>
                </a:lnTo>
                <a:cubicBezTo>
                  <a:pt x="51175" y="2512695"/>
                  <a:pt x="0" y="2461520"/>
                  <a:pt x="0" y="239839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737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Text 6"/>
          <p:cNvSpPr/>
          <p:nvPr/>
        </p:nvSpPr>
        <p:spPr>
          <a:xfrm>
            <a:off x="569595" y="1737361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32611"/>
            <a:ext cx="1219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Ввод данных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346961"/>
            <a:ext cx="3286125" cy="1095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Реализовать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ввод числовых данных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пользователем через консольный интерфейс с возможностью ввода нескольких чисел через пробел.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" y="36099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52400" y="133350"/>
                </a:lnTo>
                <a:cubicBezTo>
                  <a:pt x="162907" y="133350"/>
                  <a:pt x="171450" y="124807"/>
                  <a:pt x="171450" y="114300"/>
                </a:cubicBezTo>
                <a:lnTo>
                  <a:pt x="171450" y="38100"/>
                </a:lnTo>
                <a:cubicBezTo>
                  <a:pt x="171450" y="27593"/>
                  <a:pt x="162907" y="19050"/>
                  <a:pt x="152400" y="19050"/>
                </a:cubicBezTo>
                <a:lnTo>
                  <a:pt x="19050" y="19050"/>
                </a:lnTo>
                <a:close/>
                <a:moveTo>
                  <a:pt x="23813" y="38100"/>
                </a:moveTo>
                <a:lnTo>
                  <a:pt x="33338" y="38100"/>
                </a:lnTo>
                <a:cubicBezTo>
                  <a:pt x="35957" y="38100"/>
                  <a:pt x="38100" y="40243"/>
                  <a:pt x="38100" y="42863"/>
                </a:cubicBezTo>
                <a:lnTo>
                  <a:pt x="38100" y="52388"/>
                </a:lnTo>
                <a:cubicBezTo>
                  <a:pt x="38100" y="55007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5007"/>
                  <a:pt x="19050" y="52388"/>
                </a:cubicBezTo>
                <a:lnTo>
                  <a:pt x="19050" y="42863"/>
                </a:lnTo>
                <a:cubicBezTo>
                  <a:pt x="19050" y="40243"/>
                  <a:pt x="21193" y="38100"/>
                  <a:pt x="23813" y="38100"/>
                </a:cubicBezTo>
                <a:close/>
                <a:moveTo>
                  <a:pt x="19050" y="71438"/>
                </a:moveTo>
                <a:cubicBezTo>
                  <a:pt x="19050" y="68818"/>
                  <a:pt x="21193" y="66675"/>
                  <a:pt x="23813" y="66675"/>
                </a:cubicBezTo>
                <a:lnTo>
                  <a:pt x="33338" y="66675"/>
                </a:lnTo>
                <a:cubicBezTo>
                  <a:pt x="35957" y="66675"/>
                  <a:pt x="38100" y="68818"/>
                  <a:pt x="38100" y="71438"/>
                </a:cubicBezTo>
                <a:lnTo>
                  <a:pt x="38100" y="80962"/>
                </a:lnTo>
                <a:cubicBezTo>
                  <a:pt x="38100" y="83582"/>
                  <a:pt x="35957" y="85725"/>
                  <a:pt x="33338" y="85725"/>
                </a:cubicBezTo>
                <a:lnTo>
                  <a:pt x="23813" y="85725"/>
                </a:lnTo>
                <a:cubicBezTo>
                  <a:pt x="21193" y="85725"/>
                  <a:pt x="19050" y="83582"/>
                  <a:pt x="19050" y="80962"/>
                </a:cubicBezTo>
                <a:lnTo>
                  <a:pt x="19050" y="71438"/>
                </a:lnTo>
                <a:close/>
                <a:moveTo>
                  <a:pt x="52388" y="38100"/>
                </a:moveTo>
                <a:lnTo>
                  <a:pt x="61912" y="38100"/>
                </a:lnTo>
                <a:cubicBezTo>
                  <a:pt x="64532" y="38100"/>
                  <a:pt x="66675" y="40243"/>
                  <a:pt x="66675" y="42863"/>
                </a:cubicBezTo>
                <a:lnTo>
                  <a:pt x="66675" y="52388"/>
                </a:lnTo>
                <a:cubicBezTo>
                  <a:pt x="66675" y="55007"/>
                  <a:pt x="64532" y="57150"/>
                  <a:pt x="61912" y="57150"/>
                </a:cubicBezTo>
                <a:lnTo>
                  <a:pt x="52388" y="57150"/>
                </a:lnTo>
                <a:cubicBezTo>
                  <a:pt x="49768" y="57150"/>
                  <a:pt x="47625" y="55007"/>
                  <a:pt x="47625" y="52388"/>
                </a:cubicBezTo>
                <a:lnTo>
                  <a:pt x="47625" y="42863"/>
                </a:lnTo>
                <a:cubicBezTo>
                  <a:pt x="47625" y="40243"/>
                  <a:pt x="49768" y="38100"/>
                  <a:pt x="52388" y="38100"/>
                </a:cubicBezTo>
                <a:close/>
                <a:moveTo>
                  <a:pt x="47625" y="71438"/>
                </a:moveTo>
                <a:cubicBezTo>
                  <a:pt x="47625" y="68818"/>
                  <a:pt x="49768" y="66675"/>
                  <a:pt x="52388" y="66675"/>
                </a:cubicBezTo>
                <a:lnTo>
                  <a:pt x="61912" y="66675"/>
                </a:lnTo>
                <a:cubicBezTo>
                  <a:pt x="64532" y="66675"/>
                  <a:pt x="66675" y="68818"/>
                  <a:pt x="66675" y="71438"/>
                </a:cubicBezTo>
                <a:lnTo>
                  <a:pt x="66675" y="80962"/>
                </a:lnTo>
                <a:cubicBezTo>
                  <a:pt x="66675" y="83582"/>
                  <a:pt x="64532" y="85725"/>
                  <a:pt x="61912" y="85725"/>
                </a:cubicBezTo>
                <a:lnTo>
                  <a:pt x="52388" y="85725"/>
                </a:lnTo>
                <a:cubicBezTo>
                  <a:pt x="49768" y="85725"/>
                  <a:pt x="47625" y="83582"/>
                  <a:pt x="47625" y="80962"/>
                </a:cubicBezTo>
                <a:lnTo>
                  <a:pt x="47625" y="71438"/>
                </a:lnTo>
                <a:close/>
                <a:moveTo>
                  <a:pt x="52388" y="95250"/>
                </a:moveTo>
                <a:lnTo>
                  <a:pt x="119062" y="95250"/>
                </a:lnTo>
                <a:cubicBezTo>
                  <a:pt x="121682" y="95250"/>
                  <a:pt x="123825" y="97393"/>
                  <a:pt x="123825" y="100013"/>
                </a:cubicBezTo>
                <a:lnTo>
                  <a:pt x="123825" y="109537"/>
                </a:lnTo>
                <a:cubicBezTo>
                  <a:pt x="123825" y="112157"/>
                  <a:pt x="121682" y="114300"/>
                  <a:pt x="119062" y="114300"/>
                </a:cubicBezTo>
                <a:lnTo>
                  <a:pt x="52388" y="114300"/>
                </a:lnTo>
                <a:cubicBezTo>
                  <a:pt x="49768" y="114300"/>
                  <a:pt x="47625" y="112157"/>
                  <a:pt x="47625" y="109537"/>
                </a:cubicBezTo>
                <a:lnTo>
                  <a:pt x="47625" y="100013"/>
                </a:lnTo>
                <a:cubicBezTo>
                  <a:pt x="47625" y="97393"/>
                  <a:pt x="49768" y="95250"/>
                  <a:pt x="52388" y="95250"/>
                </a:cubicBezTo>
                <a:close/>
                <a:moveTo>
                  <a:pt x="76200" y="42863"/>
                </a:moveTo>
                <a:cubicBezTo>
                  <a:pt x="76200" y="40243"/>
                  <a:pt x="78343" y="38100"/>
                  <a:pt x="80962" y="38100"/>
                </a:cubicBezTo>
                <a:lnTo>
                  <a:pt x="90488" y="38100"/>
                </a:lnTo>
                <a:cubicBezTo>
                  <a:pt x="93107" y="38100"/>
                  <a:pt x="95250" y="40243"/>
                  <a:pt x="95250" y="42863"/>
                </a:cubicBezTo>
                <a:lnTo>
                  <a:pt x="95250" y="52388"/>
                </a:lnTo>
                <a:cubicBezTo>
                  <a:pt x="95250" y="55007"/>
                  <a:pt x="93107" y="57150"/>
                  <a:pt x="90488" y="57150"/>
                </a:cubicBezTo>
                <a:lnTo>
                  <a:pt x="80962" y="57150"/>
                </a:lnTo>
                <a:cubicBezTo>
                  <a:pt x="78343" y="57150"/>
                  <a:pt x="76200" y="55007"/>
                  <a:pt x="76200" y="52388"/>
                </a:cubicBezTo>
                <a:lnTo>
                  <a:pt x="76200" y="42863"/>
                </a:lnTo>
                <a:close/>
                <a:moveTo>
                  <a:pt x="80962" y="66675"/>
                </a:moveTo>
                <a:lnTo>
                  <a:pt x="90488" y="66675"/>
                </a:lnTo>
                <a:cubicBezTo>
                  <a:pt x="93107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3107" y="85725"/>
                  <a:pt x="90488" y="85725"/>
                </a:cubicBezTo>
                <a:lnTo>
                  <a:pt x="80962" y="85725"/>
                </a:lnTo>
                <a:cubicBezTo>
                  <a:pt x="78343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8343" y="66675"/>
                  <a:pt x="80962" y="66675"/>
                </a:cubicBezTo>
                <a:close/>
                <a:moveTo>
                  <a:pt x="104775" y="42863"/>
                </a:moveTo>
                <a:cubicBezTo>
                  <a:pt x="104775" y="40243"/>
                  <a:pt x="106918" y="38100"/>
                  <a:pt x="109537" y="38100"/>
                </a:cubicBezTo>
                <a:lnTo>
                  <a:pt x="119062" y="38100"/>
                </a:lnTo>
                <a:cubicBezTo>
                  <a:pt x="121682" y="38100"/>
                  <a:pt x="123825" y="40243"/>
                  <a:pt x="123825" y="42863"/>
                </a:cubicBezTo>
                <a:lnTo>
                  <a:pt x="123825" y="52388"/>
                </a:lnTo>
                <a:cubicBezTo>
                  <a:pt x="123825" y="55007"/>
                  <a:pt x="121682" y="57150"/>
                  <a:pt x="119062" y="57150"/>
                </a:cubicBezTo>
                <a:lnTo>
                  <a:pt x="109537" y="57150"/>
                </a:lnTo>
                <a:cubicBezTo>
                  <a:pt x="106918" y="57150"/>
                  <a:pt x="104775" y="55007"/>
                  <a:pt x="104775" y="52388"/>
                </a:cubicBezTo>
                <a:lnTo>
                  <a:pt x="104775" y="42863"/>
                </a:lnTo>
                <a:close/>
                <a:moveTo>
                  <a:pt x="109537" y="66675"/>
                </a:moveTo>
                <a:lnTo>
                  <a:pt x="119062" y="66675"/>
                </a:lnTo>
                <a:cubicBezTo>
                  <a:pt x="121682" y="66675"/>
                  <a:pt x="123825" y="68818"/>
                  <a:pt x="123825" y="71438"/>
                </a:cubicBezTo>
                <a:lnTo>
                  <a:pt x="123825" y="80962"/>
                </a:lnTo>
                <a:cubicBezTo>
                  <a:pt x="123825" y="83582"/>
                  <a:pt x="121682" y="85725"/>
                  <a:pt x="119062" y="85725"/>
                </a:cubicBezTo>
                <a:lnTo>
                  <a:pt x="109537" y="85725"/>
                </a:lnTo>
                <a:cubicBezTo>
                  <a:pt x="106918" y="85725"/>
                  <a:pt x="104775" y="83582"/>
                  <a:pt x="104775" y="80962"/>
                </a:cubicBezTo>
                <a:lnTo>
                  <a:pt x="104775" y="71438"/>
                </a:lnTo>
                <a:cubicBezTo>
                  <a:pt x="104775" y="68818"/>
                  <a:pt x="106918" y="66675"/>
                  <a:pt x="109537" y="66675"/>
                </a:cubicBezTo>
                <a:close/>
                <a:moveTo>
                  <a:pt x="133350" y="42863"/>
                </a:moveTo>
                <a:cubicBezTo>
                  <a:pt x="133350" y="40243"/>
                  <a:pt x="135493" y="38100"/>
                  <a:pt x="138113" y="38100"/>
                </a:cubicBezTo>
                <a:lnTo>
                  <a:pt x="147638" y="38100"/>
                </a:lnTo>
                <a:cubicBezTo>
                  <a:pt x="150257" y="38100"/>
                  <a:pt x="152400" y="40243"/>
                  <a:pt x="152400" y="42863"/>
                </a:cubicBezTo>
                <a:lnTo>
                  <a:pt x="152400" y="52388"/>
                </a:lnTo>
                <a:cubicBezTo>
                  <a:pt x="152400" y="55007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5007"/>
                  <a:pt x="133350" y="52388"/>
                </a:cubicBezTo>
                <a:lnTo>
                  <a:pt x="133350" y="42863"/>
                </a:lnTo>
                <a:close/>
                <a:moveTo>
                  <a:pt x="138113" y="66675"/>
                </a:moveTo>
                <a:lnTo>
                  <a:pt x="147638" y="66675"/>
                </a:lnTo>
                <a:cubicBezTo>
                  <a:pt x="150257" y="66675"/>
                  <a:pt x="152400" y="68818"/>
                  <a:pt x="152400" y="71438"/>
                </a:cubicBezTo>
                <a:lnTo>
                  <a:pt x="152400" y="80962"/>
                </a:lnTo>
                <a:cubicBezTo>
                  <a:pt x="152400" y="83582"/>
                  <a:pt x="150257" y="85725"/>
                  <a:pt x="147638" y="85725"/>
                </a:cubicBezTo>
                <a:lnTo>
                  <a:pt x="138113" y="85725"/>
                </a:lnTo>
                <a:cubicBezTo>
                  <a:pt x="135493" y="85725"/>
                  <a:pt x="133350" y="83582"/>
                  <a:pt x="133350" y="80962"/>
                </a:cubicBezTo>
                <a:lnTo>
                  <a:pt x="133350" y="71438"/>
                </a:lnTo>
                <a:cubicBezTo>
                  <a:pt x="133350" y="68818"/>
                  <a:pt x="135493" y="66675"/>
                  <a:pt x="138113" y="6667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2" name="Text 10"/>
          <p:cNvSpPr/>
          <p:nvPr/>
        </p:nvSpPr>
        <p:spPr>
          <a:xfrm>
            <a:off x="883920" y="3590925"/>
            <a:ext cx="140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Интерактивный ввод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8270" y="1504951"/>
            <a:ext cx="3674745" cy="2512695"/>
          </a:xfrm>
          <a:custGeom>
            <a:avLst/>
            <a:gdLst/>
            <a:ahLst/>
            <a:cxnLst/>
            <a:rect l="l" t="t" r="r" b="b"/>
            <a:pathLst>
              <a:path w="3674745" h="2512695">
                <a:moveTo>
                  <a:pt x="114302" y="0"/>
                </a:moveTo>
                <a:lnTo>
                  <a:pt x="3560443" y="0"/>
                </a:lnTo>
                <a:cubicBezTo>
                  <a:pt x="3623570" y="0"/>
                  <a:pt x="3674745" y="51175"/>
                  <a:pt x="3674745" y="114302"/>
                </a:cubicBezTo>
                <a:lnTo>
                  <a:pt x="3674745" y="2398393"/>
                </a:lnTo>
                <a:cubicBezTo>
                  <a:pt x="3674745" y="2461520"/>
                  <a:pt x="3623570" y="2512695"/>
                  <a:pt x="3560443" y="2512695"/>
                </a:cubicBezTo>
                <a:lnTo>
                  <a:pt x="114302" y="2512695"/>
                </a:lnTo>
                <a:cubicBezTo>
                  <a:pt x="51175" y="2512695"/>
                  <a:pt x="0" y="2461520"/>
                  <a:pt x="0" y="239839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0680" y="1737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5" name="Text 13"/>
          <p:cNvSpPr/>
          <p:nvPr/>
        </p:nvSpPr>
        <p:spPr>
          <a:xfrm>
            <a:off x="4443055" y="1737361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62181" y="1832611"/>
            <a:ext cx="110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Статистика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0680" y="2346961"/>
            <a:ext cx="3286125" cy="1095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Вычислить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основные статистические показатели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 среднее значение, медиану, минимум, максимум и стандартное отклонение.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8780" y="36099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9" name="Text 17"/>
          <p:cNvSpPr/>
          <p:nvPr/>
        </p:nvSpPr>
        <p:spPr>
          <a:xfrm>
            <a:off x="4757380" y="3590925"/>
            <a:ext cx="130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 ключевых метрик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1731" y="1504951"/>
            <a:ext cx="3674745" cy="2512695"/>
          </a:xfrm>
          <a:custGeom>
            <a:avLst/>
            <a:gdLst/>
            <a:ahLst/>
            <a:cxnLst/>
            <a:rect l="l" t="t" r="r" b="b"/>
            <a:pathLst>
              <a:path w="3674745" h="2512695">
                <a:moveTo>
                  <a:pt x="114302" y="0"/>
                </a:moveTo>
                <a:lnTo>
                  <a:pt x="3560443" y="0"/>
                </a:lnTo>
                <a:cubicBezTo>
                  <a:pt x="3623570" y="0"/>
                  <a:pt x="3674745" y="51175"/>
                  <a:pt x="3674745" y="114302"/>
                </a:cubicBezTo>
                <a:lnTo>
                  <a:pt x="3674745" y="2398393"/>
                </a:lnTo>
                <a:cubicBezTo>
                  <a:pt x="3674745" y="2461520"/>
                  <a:pt x="3623570" y="2512695"/>
                  <a:pt x="3560443" y="2512695"/>
                </a:cubicBezTo>
                <a:lnTo>
                  <a:pt x="114302" y="2512695"/>
                </a:lnTo>
                <a:cubicBezTo>
                  <a:pt x="51175" y="2512695"/>
                  <a:pt x="0" y="2461520"/>
                  <a:pt x="0" y="239839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4141" y="17373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2" name="Text 20"/>
          <p:cNvSpPr/>
          <p:nvPr/>
        </p:nvSpPr>
        <p:spPr>
          <a:xfrm>
            <a:off x="8316516" y="1737361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35641" y="1832611"/>
            <a:ext cx="1857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Системы счисления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64141" y="2346961"/>
            <a:ext cx="3286125" cy="1095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Преобразовывать числа между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двоичной, десятичной и шестнадцатеричной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системами счисления в обоих направлениях.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3191" y="3609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6" name="Text 24"/>
          <p:cNvSpPr/>
          <p:nvPr/>
        </p:nvSpPr>
        <p:spPr>
          <a:xfrm>
            <a:off x="8630841" y="3590925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 направлений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810" y="4211955"/>
            <a:ext cx="3674745" cy="2265045"/>
          </a:xfrm>
          <a:custGeom>
            <a:avLst/>
            <a:gdLst/>
            <a:ahLst/>
            <a:cxnLst/>
            <a:rect l="l" t="t" r="r" b="b"/>
            <a:pathLst>
              <a:path w="3674745" h="2265045">
                <a:moveTo>
                  <a:pt x="114294" y="0"/>
                </a:moveTo>
                <a:lnTo>
                  <a:pt x="3560451" y="0"/>
                </a:lnTo>
                <a:cubicBezTo>
                  <a:pt x="3623574" y="0"/>
                  <a:pt x="3674745" y="51171"/>
                  <a:pt x="3674745" y="114294"/>
                </a:cubicBezTo>
                <a:lnTo>
                  <a:pt x="3674745" y="2150751"/>
                </a:lnTo>
                <a:cubicBezTo>
                  <a:pt x="3674745" y="2213874"/>
                  <a:pt x="3623574" y="2265045"/>
                  <a:pt x="3560451" y="2265045"/>
                </a:cubicBezTo>
                <a:lnTo>
                  <a:pt x="114294" y="2265045"/>
                </a:lnTo>
                <a:cubicBezTo>
                  <a:pt x="51171" y="2265045"/>
                  <a:pt x="0" y="2213874"/>
                  <a:pt x="0" y="215075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" y="44443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9" name="Text 27"/>
          <p:cNvSpPr/>
          <p:nvPr/>
        </p:nvSpPr>
        <p:spPr>
          <a:xfrm>
            <a:off x="569595" y="4444366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4539616"/>
            <a:ext cx="1143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Сортировка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" y="5053966"/>
            <a:ext cx="3286125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Реализовать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сортировку чисел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по возрастанию для удобства анализа и представления данных.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6745" y="606933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402" y="111502"/>
                </a:moveTo>
                <a:lnTo>
                  <a:pt x="44827" y="140077"/>
                </a:lnTo>
                <a:cubicBezTo>
                  <a:pt x="41106" y="143798"/>
                  <a:pt x="35064" y="143798"/>
                  <a:pt x="31343" y="140077"/>
                </a:cubicBezTo>
                <a:lnTo>
                  <a:pt x="2768" y="111502"/>
                </a:lnTo>
                <a:cubicBezTo>
                  <a:pt x="-953" y="107781"/>
                  <a:pt x="-953" y="101739"/>
                  <a:pt x="2768" y="98018"/>
                </a:cubicBezTo>
                <a:cubicBezTo>
                  <a:pt x="6489" y="94298"/>
                  <a:pt x="12531" y="94298"/>
                  <a:pt x="16252" y="98018"/>
                </a:cubicBezTo>
                <a:lnTo>
                  <a:pt x="28575" y="110341"/>
                </a:lnTo>
                <a:lnTo>
                  <a:pt x="28575" y="19050"/>
                </a:lnTo>
                <a:cubicBezTo>
                  <a:pt x="28575" y="13781"/>
                  <a:pt x="32831" y="9525"/>
                  <a:pt x="38100" y="9525"/>
                </a:cubicBezTo>
                <a:cubicBezTo>
                  <a:pt x="43369" y="9525"/>
                  <a:pt x="47625" y="13781"/>
                  <a:pt x="47625" y="19050"/>
                </a:cubicBezTo>
                <a:lnTo>
                  <a:pt x="47625" y="110341"/>
                </a:lnTo>
                <a:lnTo>
                  <a:pt x="59948" y="98018"/>
                </a:lnTo>
                <a:cubicBezTo>
                  <a:pt x="63669" y="94298"/>
                  <a:pt x="69711" y="94298"/>
                  <a:pt x="73432" y="98018"/>
                </a:cubicBezTo>
                <a:cubicBezTo>
                  <a:pt x="77152" y="101739"/>
                  <a:pt x="77152" y="107781"/>
                  <a:pt x="73432" y="111502"/>
                </a:cubicBezTo>
                <a:close/>
                <a:moveTo>
                  <a:pt x="95250" y="142875"/>
                </a:moveTo>
                <a:cubicBezTo>
                  <a:pt x="89981" y="142875"/>
                  <a:pt x="85725" y="138619"/>
                  <a:pt x="85725" y="133350"/>
                </a:cubicBezTo>
                <a:cubicBezTo>
                  <a:pt x="85725" y="128081"/>
                  <a:pt x="89981" y="123825"/>
                  <a:pt x="95250" y="123825"/>
                </a:cubicBezTo>
                <a:lnTo>
                  <a:pt x="104775" y="123825"/>
                </a:lnTo>
                <a:cubicBezTo>
                  <a:pt x="110044" y="123825"/>
                  <a:pt x="114300" y="128081"/>
                  <a:pt x="114300" y="133350"/>
                </a:cubicBezTo>
                <a:cubicBezTo>
                  <a:pt x="114300" y="138619"/>
                  <a:pt x="110044" y="142875"/>
                  <a:pt x="104775" y="142875"/>
                </a:cubicBezTo>
                <a:lnTo>
                  <a:pt x="95250" y="142875"/>
                </a:lnTo>
                <a:close/>
                <a:moveTo>
                  <a:pt x="95250" y="104775"/>
                </a:moveTo>
                <a:cubicBezTo>
                  <a:pt x="89981" y="104775"/>
                  <a:pt x="85725" y="100519"/>
                  <a:pt x="85725" y="95250"/>
                </a:cubicBezTo>
                <a:cubicBezTo>
                  <a:pt x="85725" y="89981"/>
                  <a:pt x="89981" y="85725"/>
                  <a:pt x="95250" y="85725"/>
                </a:cubicBez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95250" y="104775"/>
                </a:lnTo>
                <a:close/>
                <a:moveTo>
                  <a:pt x="95250" y="66675"/>
                </a:moveTo>
                <a:cubicBezTo>
                  <a:pt x="89981" y="66675"/>
                  <a:pt x="85725" y="62419"/>
                  <a:pt x="85725" y="57150"/>
                </a:cubicBezTo>
                <a:cubicBezTo>
                  <a:pt x="85725" y="51881"/>
                  <a:pt x="89981" y="47625"/>
                  <a:pt x="95250" y="47625"/>
                </a:cubicBezTo>
                <a:lnTo>
                  <a:pt x="142875" y="47625"/>
                </a:lnTo>
                <a:cubicBezTo>
                  <a:pt x="148144" y="47625"/>
                  <a:pt x="152400" y="51881"/>
                  <a:pt x="152400" y="57150"/>
                </a:cubicBezTo>
                <a:cubicBezTo>
                  <a:pt x="152400" y="62419"/>
                  <a:pt x="148144" y="66675"/>
                  <a:pt x="142875" y="66675"/>
                </a:cubicBezTo>
                <a:lnTo>
                  <a:pt x="95250" y="66675"/>
                </a:lnTo>
                <a:close/>
                <a:moveTo>
                  <a:pt x="95250" y="28575"/>
                </a:moveTo>
                <a:cubicBezTo>
                  <a:pt x="89981" y="28575"/>
                  <a:pt x="85725" y="24319"/>
                  <a:pt x="85725" y="19050"/>
                </a:cubicBezTo>
                <a:cubicBezTo>
                  <a:pt x="85725" y="13781"/>
                  <a:pt x="89981" y="9525"/>
                  <a:pt x="95250" y="9525"/>
                </a:cubicBezTo>
                <a:lnTo>
                  <a:pt x="161925" y="9525"/>
                </a:lnTo>
                <a:cubicBezTo>
                  <a:pt x="167194" y="9525"/>
                  <a:pt x="171450" y="13781"/>
                  <a:pt x="171450" y="19050"/>
                </a:cubicBezTo>
                <a:cubicBezTo>
                  <a:pt x="171450" y="24319"/>
                  <a:pt x="167194" y="28575"/>
                  <a:pt x="161925" y="28575"/>
                </a:cubicBezTo>
                <a:lnTo>
                  <a:pt x="95250" y="28575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33" name="Text 31"/>
          <p:cNvSpPr/>
          <p:nvPr/>
        </p:nvSpPr>
        <p:spPr>
          <a:xfrm>
            <a:off x="883920" y="6050280"/>
            <a:ext cx="1104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 возрастанию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58270" y="4211955"/>
            <a:ext cx="3674745" cy="2265045"/>
          </a:xfrm>
          <a:custGeom>
            <a:avLst/>
            <a:gdLst/>
            <a:ahLst/>
            <a:cxnLst/>
            <a:rect l="l" t="t" r="r" b="b"/>
            <a:pathLst>
              <a:path w="3674745" h="2265045">
                <a:moveTo>
                  <a:pt x="114294" y="0"/>
                </a:moveTo>
                <a:lnTo>
                  <a:pt x="3560451" y="0"/>
                </a:lnTo>
                <a:cubicBezTo>
                  <a:pt x="3623574" y="0"/>
                  <a:pt x="3674745" y="51171"/>
                  <a:pt x="3674745" y="114294"/>
                </a:cubicBezTo>
                <a:lnTo>
                  <a:pt x="3674745" y="2150751"/>
                </a:lnTo>
                <a:cubicBezTo>
                  <a:pt x="3674745" y="2213874"/>
                  <a:pt x="3623574" y="2265045"/>
                  <a:pt x="3560451" y="2265045"/>
                </a:cubicBezTo>
                <a:lnTo>
                  <a:pt x="114294" y="2265045"/>
                </a:lnTo>
                <a:cubicBezTo>
                  <a:pt x="51171" y="2265045"/>
                  <a:pt x="0" y="2213874"/>
                  <a:pt x="0" y="215075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90680" y="44443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6" name="Text 34"/>
          <p:cNvSpPr/>
          <p:nvPr/>
        </p:nvSpPr>
        <p:spPr>
          <a:xfrm>
            <a:off x="4443055" y="4444366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62181" y="4539616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Визуализация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90680" y="5053966"/>
            <a:ext cx="3286125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Построить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гистограмму распределения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чисел для наглядного представления статистических данных.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09730" y="606933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0" name="Text 38"/>
          <p:cNvSpPr/>
          <p:nvPr/>
        </p:nvSpPr>
        <p:spPr>
          <a:xfrm>
            <a:off x="4757380" y="6050280"/>
            <a:ext cx="685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31731" y="4211955"/>
            <a:ext cx="3674745" cy="2265045"/>
          </a:xfrm>
          <a:custGeom>
            <a:avLst/>
            <a:gdLst/>
            <a:ahLst/>
            <a:cxnLst/>
            <a:rect l="l" t="t" r="r" b="b"/>
            <a:pathLst>
              <a:path w="3674745" h="2265045">
                <a:moveTo>
                  <a:pt x="114294" y="0"/>
                </a:moveTo>
                <a:lnTo>
                  <a:pt x="3560451" y="0"/>
                </a:lnTo>
                <a:cubicBezTo>
                  <a:pt x="3623574" y="0"/>
                  <a:pt x="3674745" y="51171"/>
                  <a:pt x="3674745" y="114294"/>
                </a:cubicBezTo>
                <a:lnTo>
                  <a:pt x="3674745" y="2150751"/>
                </a:lnTo>
                <a:cubicBezTo>
                  <a:pt x="3674745" y="2213874"/>
                  <a:pt x="3623574" y="2265045"/>
                  <a:pt x="3560451" y="2265045"/>
                </a:cubicBezTo>
                <a:lnTo>
                  <a:pt x="114294" y="2265045"/>
                </a:lnTo>
                <a:cubicBezTo>
                  <a:pt x="51171" y="2265045"/>
                  <a:pt x="0" y="2213874"/>
                  <a:pt x="0" y="2150751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4141" y="44443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3" name="Text 41"/>
          <p:cNvSpPr/>
          <p:nvPr/>
        </p:nvSpPr>
        <p:spPr>
          <a:xfrm>
            <a:off x="8316516" y="4444366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35641" y="4539616"/>
            <a:ext cx="115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Сохранение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64141" y="5053966"/>
            <a:ext cx="3286125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Сохранить </a:t>
            </a:r>
            <a:r>
              <a:rPr lang="en-US" sz="120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результаты в текстовый файл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для дальнейшего использования и документирования.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73666" y="606933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724" y="0"/>
                </a:moveTo>
                <a:cubicBezTo>
                  <a:pt x="18217" y="0"/>
                  <a:pt x="9674" y="8543"/>
                  <a:pt x="9674" y="19050"/>
                </a:cubicBezTo>
                <a:lnTo>
                  <a:pt x="9674" y="133350"/>
                </a:lnTo>
                <a:cubicBezTo>
                  <a:pt x="9674" y="143857"/>
                  <a:pt x="18217" y="152400"/>
                  <a:pt x="28724" y="152400"/>
                </a:cubicBezTo>
                <a:lnTo>
                  <a:pt x="104924" y="152400"/>
                </a:lnTo>
                <a:cubicBezTo>
                  <a:pt x="115431" y="152400"/>
                  <a:pt x="123974" y="143857"/>
                  <a:pt x="123974" y="133350"/>
                </a:cubicBezTo>
                <a:lnTo>
                  <a:pt x="123974" y="104775"/>
                </a:lnTo>
                <a:lnTo>
                  <a:pt x="147221" y="104775"/>
                </a:lnTo>
                <a:lnTo>
                  <a:pt x="137993" y="114002"/>
                </a:lnTo>
                <a:cubicBezTo>
                  <a:pt x="135195" y="116800"/>
                  <a:pt x="135195" y="121325"/>
                  <a:pt x="137993" y="124093"/>
                </a:cubicBezTo>
                <a:cubicBezTo>
                  <a:pt x="140791" y="126861"/>
                  <a:pt x="145316" y="126891"/>
                  <a:pt x="148084" y="124093"/>
                </a:cubicBezTo>
                <a:lnTo>
                  <a:pt x="169515" y="102662"/>
                </a:lnTo>
                <a:cubicBezTo>
                  <a:pt x="172313" y="99864"/>
                  <a:pt x="172313" y="95339"/>
                  <a:pt x="169515" y="92571"/>
                </a:cubicBezTo>
                <a:lnTo>
                  <a:pt x="148084" y="71140"/>
                </a:lnTo>
                <a:cubicBezTo>
                  <a:pt x="145286" y="68342"/>
                  <a:pt x="140762" y="68342"/>
                  <a:pt x="137993" y="71140"/>
                </a:cubicBezTo>
                <a:cubicBezTo>
                  <a:pt x="135225" y="73938"/>
                  <a:pt x="135195" y="78462"/>
                  <a:pt x="137993" y="81230"/>
                </a:cubicBezTo>
                <a:lnTo>
                  <a:pt x="147221" y="90458"/>
                </a:lnTo>
                <a:lnTo>
                  <a:pt x="123974" y="90458"/>
                </a:lnTo>
                <a:lnTo>
                  <a:pt x="123974" y="50721"/>
                </a:lnTo>
                <a:cubicBezTo>
                  <a:pt x="123974" y="45660"/>
                  <a:pt x="121980" y="40809"/>
                  <a:pt x="118408" y="37237"/>
                </a:cubicBezTo>
                <a:lnTo>
                  <a:pt x="86678" y="5566"/>
                </a:lnTo>
                <a:cubicBezTo>
                  <a:pt x="83106" y="1994"/>
                  <a:pt x="78284" y="0"/>
                  <a:pt x="73223" y="0"/>
                </a:cubicBezTo>
                <a:lnTo>
                  <a:pt x="28724" y="0"/>
                </a:lnTo>
                <a:close/>
                <a:moveTo>
                  <a:pt x="106561" y="52388"/>
                </a:moveTo>
                <a:lnTo>
                  <a:pt x="78730" y="52388"/>
                </a:lnTo>
                <a:cubicBezTo>
                  <a:pt x="74771" y="52388"/>
                  <a:pt x="71586" y="49203"/>
                  <a:pt x="71586" y="45244"/>
                </a:cubicBezTo>
                <a:lnTo>
                  <a:pt x="71586" y="17413"/>
                </a:lnTo>
                <a:lnTo>
                  <a:pt x="106561" y="52388"/>
                </a:lnTo>
                <a:close/>
                <a:moveTo>
                  <a:pt x="66824" y="97631"/>
                </a:moveTo>
                <a:cubicBezTo>
                  <a:pt x="66824" y="93672"/>
                  <a:pt x="70009" y="90488"/>
                  <a:pt x="73968" y="90488"/>
                </a:cubicBezTo>
                <a:lnTo>
                  <a:pt x="104924" y="90488"/>
                </a:lnTo>
                <a:lnTo>
                  <a:pt x="104924" y="104775"/>
                </a:lnTo>
                <a:lnTo>
                  <a:pt x="73968" y="104775"/>
                </a:lnTo>
                <a:cubicBezTo>
                  <a:pt x="70009" y="104775"/>
                  <a:pt x="66824" y="101590"/>
                  <a:pt x="66824" y="97631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7" name="Text 45"/>
          <p:cNvSpPr/>
          <p:nvPr/>
        </p:nvSpPr>
        <p:spPr>
          <a:xfrm>
            <a:off x="8630841" y="6050280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result.txt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8588" y="767380"/>
            <a:ext cx="11636188" cy="3585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Функциональные требования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588" y="1197686"/>
            <a:ext cx="717176" cy="35859"/>
          </a:xfrm>
          <a:custGeom>
            <a:avLst/>
            <a:gdLst/>
            <a:ahLst/>
            <a:cxnLst/>
            <a:rect l="l" t="t" r="r" b="b"/>
            <a:pathLst>
              <a:path w="717176" h="35859">
                <a:moveTo>
                  <a:pt x="0" y="0"/>
                </a:moveTo>
                <a:lnTo>
                  <a:pt x="717176" y="0"/>
                </a:lnTo>
                <a:lnTo>
                  <a:pt x="717176" y="35859"/>
                </a:lnTo>
                <a:lnTo>
                  <a:pt x="0" y="35859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362174" y="1416424"/>
            <a:ext cx="11464066" cy="3664772"/>
          </a:xfrm>
          <a:custGeom>
            <a:avLst/>
            <a:gdLst/>
            <a:ahLst/>
            <a:cxnLst/>
            <a:rect l="l" t="t" r="r" b="b"/>
            <a:pathLst>
              <a:path w="11464066" h="3664772">
                <a:moveTo>
                  <a:pt x="107561" y="0"/>
                </a:moveTo>
                <a:lnTo>
                  <a:pt x="11356505" y="0"/>
                </a:lnTo>
                <a:cubicBezTo>
                  <a:pt x="11415909" y="0"/>
                  <a:pt x="11464066" y="48157"/>
                  <a:pt x="11464066" y="107561"/>
                </a:cubicBezTo>
                <a:lnTo>
                  <a:pt x="11464066" y="3557211"/>
                </a:lnTo>
                <a:cubicBezTo>
                  <a:pt x="11464066" y="3616615"/>
                  <a:pt x="11415909" y="3664772"/>
                  <a:pt x="11356505" y="3664772"/>
                </a:cubicBezTo>
                <a:lnTo>
                  <a:pt x="107561" y="3664772"/>
                </a:lnTo>
                <a:cubicBezTo>
                  <a:pt x="48157" y="3664772"/>
                  <a:pt x="0" y="3616615"/>
                  <a:pt x="0" y="3557211"/>
                </a:cubicBezTo>
                <a:lnTo>
                  <a:pt x="0" y="107561"/>
                </a:lnTo>
                <a:cubicBezTo>
                  <a:pt x="0" y="48157"/>
                  <a:pt x="48157" y="0"/>
                  <a:pt x="10756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054" y="1599305"/>
            <a:ext cx="502024" cy="502024"/>
          </a:xfrm>
          <a:custGeom>
            <a:avLst/>
            <a:gdLst/>
            <a:ahLst/>
            <a:cxnLst/>
            <a:rect l="l" t="t" r="r" b="b"/>
            <a:pathLst>
              <a:path w="502024" h="502024">
                <a:moveTo>
                  <a:pt x="107579" y="0"/>
                </a:moveTo>
                <a:lnTo>
                  <a:pt x="394445" y="0"/>
                </a:lnTo>
                <a:cubicBezTo>
                  <a:pt x="453859" y="0"/>
                  <a:pt x="502024" y="48165"/>
                  <a:pt x="502024" y="107579"/>
                </a:cubicBezTo>
                <a:lnTo>
                  <a:pt x="502024" y="394445"/>
                </a:lnTo>
                <a:cubicBezTo>
                  <a:pt x="502024" y="453859"/>
                  <a:pt x="453859" y="502024"/>
                  <a:pt x="394445" y="502024"/>
                </a:cubicBezTo>
                <a:lnTo>
                  <a:pt x="107579" y="502024"/>
                </a:lnTo>
                <a:cubicBezTo>
                  <a:pt x="48165" y="502024"/>
                  <a:pt x="0" y="453859"/>
                  <a:pt x="0" y="394445"/>
                </a:cubicBezTo>
                <a:lnTo>
                  <a:pt x="0" y="107579"/>
                </a:lnTo>
                <a:cubicBezTo>
                  <a:pt x="0" y="48204"/>
                  <a:pt x="48204" y="0"/>
                  <a:pt x="10757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675042" y="1742740"/>
            <a:ext cx="242047" cy="215153"/>
          </a:xfrm>
          <a:custGeom>
            <a:avLst/>
            <a:gdLst/>
            <a:ahLst/>
            <a:cxnLst/>
            <a:rect l="l" t="t" r="r" b="b"/>
            <a:pathLst>
              <a:path w="242047" h="215153">
                <a:moveTo>
                  <a:pt x="215321" y="100853"/>
                </a:moveTo>
                <a:lnTo>
                  <a:pt x="141362" y="100853"/>
                </a:lnTo>
                <a:cubicBezTo>
                  <a:pt x="133924" y="100853"/>
                  <a:pt x="127915" y="94844"/>
                  <a:pt x="127915" y="87406"/>
                </a:cubicBezTo>
                <a:lnTo>
                  <a:pt x="127915" y="13447"/>
                </a:lnTo>
                <a:cubicBezTo>
                  <a:pt x="127915" y="6009"/>
                  <a:pt x="133966" y="-84"/>
                  <a:pt x="141320" y="882"/>
                </a:cubicBezTo>
                <a:cubicBezTo>
                  <a:pt x="186284" y="6850"/>
                  <a:pt x="221918" y="42484"/>
                  <a:pt x="227886" y="87448"/>
                </a:cubicBezTo>
                <a:cubicBezTo>
                  <a:pt x="228852" y="94802"/>
                  <a:pt x="222759" y="100853"/>
                  <a:pt x="215321" y="100853"/>
                </a:cubicBezTo>
                <a:close/>
                <a:moveTo>
                  <a:pt x="93541" y="15632"/>
                </a:moveTo>
                <a:cubicBezTo>
                  <a:pt x="101147" y="14035"/>
                  <a:pt x="107745" y="20255"/>
                  <a:pt x="107745" y="28029"/>
                </a:cubicBezTo>
                <a:lnTo>
                  <a:pt x="107745" y="110938"/>
                </a:lnTo>
                <a:cubicBezTo>
                  <a:pt x="107745" y="113291"/>
                  <a:pt x="108585" y="115561"/>
                  <a:pt x="110056" y="117368"/>
                </a:cubicBezTo>
                <a:lnTo>
                  <a:pt x="165567" y="184351"/>
                </a:lnTo>
                <a:cubicBezTo>
                  <a:pt x="170483" y="190276"/>
                  <a:pt x="169433" y="199227"/>
                  <a:pt x="162667" y="202883"/>
                </a:cubicBezTo>
                <a:cubicBezTo>
                  <a:pt x="148338" y="210699"/>
                  <a:pt x="131907" y="215153"/>
                  <a:pt x="114468" y="215153"/>
                </a:cubicBezTo>
                <a:cubicBezTo>
                  <a:pt x="58789" y="215153"/>
                  <a:pt x="13615" y="169979"/>
                  <a:pt x="13615" y="114300"/>
                </a:cubicBezTo>
                <a:cubicBezTo>
                  <a:pt x="13615" y="65765"/>
                  <a:pt x="47863" y="25255"/>
                  <a:pt x="93541" y="15632"/>
                </a:cubicBezTo>
                <a:close/>
                <a:moveTo>
                  <a:pt x="200781" y="121024"/>
                </a:moveTo>
                <a:lnTo>
                  <a:pt x="227676" y="121024"/>
                </a:lnTo>
                <a:cubicBezTo>
                  <a:pt x="235450" y="121024"/>
                  <a:pt x="241669" y="127621"/>
                  <a:pt x="240072" y="135227"/>
                </a:cubicBezTo>
                <a:cubicBezTo>
                  <a:pt x="235786" y="155566"/>
                  <a:pt x="225364" y="173635"/>
                  <a:pt x="210825" y="187418"/>
                </a:cubicBezTo>
                <a:cubicBezTo>
                  <a:pt x="205656" y="192335"/>
                  <a:pt x="197546" y="191284"/>
                  <a:pt x="193007" y="185780"/>
                </a:cubicBezTo>
                <a:lnTo>
                  <a:pt x="157541" y="143043"/>
                </a:lnTo>
                <a:cubicBezTo>
                  <a:pt x="150271" y="134260"/>
                  <a:pt x="156532" y="121024"/>
                  <a:pt x="167878" y="121024"/>
                </a:cubicBezTo>
                <a:lnTo>
                  <a:pt x="200739" y="121024"/>
                </a:lnTo>
                <a:close/>
              </a:path>
            </a:pathLst>
          </a:custGeom>
          <a:solidFill>
            <a:srgbClr val="ECEFF4"/>
          </a:solidFill>
        </p:spPr>
      </p:sp>
      <p:sp>
        <p:nvSpPr>
          <p:cNvPr id="9" name="Text 7"/>
          <p:cNvSpPr/>
          <p:nvPr/>
        </p:nvSpPr>
        <p:spPr>
          <a:xfrm>
            <a:off x="1190513" y="1599305"/>
            <a:ext cx="3003176" cy="2868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1. Статистический анализ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513" y="1886062"/>
            <a:ext cx="2967318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Комплексная обработка числовых данных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2984" y="2244764"/>
            <a:ext cx="5459506" cy="788894"/>
          </a:xfrm>
          <a:custGeom>
            <a:avLst/>
            <a:gdLst/>
            <a:ahLst/>
            <a:cxnLst/>
            <a:rect l="l" t="t" r="r" b="b"/>
            <a:pathLst>
              <a:path w="5459506" h="788894">
                <a:moveTo>
                  <a:pt x="35859" y="0"/>
                </a:moveTo>
                <a:lnTo>
                  <a:pt x="5387788" y="0"/>
                </a:lnTo>
                <a:cubicBezTo>
                  <a:pt x="5427396" y="0"/>
                  <a:pt x="5459506" y="32109"/>
                  <a:pt x="5459506" y="71718"/>
                </a:cubicBezTo>
                <a:lnTo>
                  <a:pt x="5459506" y="717176"/>
                </a:lnTo>
                <a:cubicBezTo>
                  <a:pt x="5459506" y="756785"/>
                  <a:pt x="5427396" y="788894"/>
                  <a:pt x="5387788" y="788894"/>
                </a:cubicBez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562984" y="2244764"/>
            <a:ext cx="35859" cy="788894"/>
          </a:xfrm>
          <a:custGeom>
            <a:avLst/>
            <a:gdLst/>
            <a:ahLst/>
            <a:cxnLst/>
            <a:rect l="l" t="t" r="r" b="b"/>
            <a:pathLst>
              <a:path w="35859" h="788894">
                <a:moveTo>
                  <a:pt x="35859" y="0"/>
                </a:moveTo>
                <a:lnTo>
                  <a:pt x="35859" y="0"/>
                </a:lnTo>
                <a:lnTo>
                  <a:pt x="35859" y="788894"/>
                </a:ln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3" name="Shape 11"/>
          <p:cNvSpPr/>
          <p:nvPr/>
        </p:nvSpPr>
        <p:spPr>
          <a:xfrm>
            <a:off x="742278" y="2424058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14" name="Text 12"/>
          <p:cNvSpPr/>
          <p:nvPr/>
        </p:nvSpPr>
        <p:spPr>
          <a:xfrm>
            <a:off x="975360" y="2388199"/>
            <a:ext cx="9592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Ввод данных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4348" y="2675070"/>
            <a:ext cx="52264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Принимать числа, введённые пользователем через пробел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5647" y="2244764"/>
            <a:ext cx="5459506" cy="788894"/>
          </a:xfrm>
          <a:custGeom>
            <a:avLst/>
            <a:gdLst/>
            <a:ahLst/>
            <a:cxnLst/>
            <a:rect l="l" t="t" r="r" b="b"/>
            <a:pathLst>
              <a:path w="5459506" h="788894">
                <a:moveTo>
                  <a:pt x="35859" y="0"/>
                </a:moveTo>
                <a:lnTo>
                  <a:pt x="5387788" y="0"/>
                </a:lnTo>
                <a:cubicBezTo>
                  <a:pt x="5427396" y="0"/>
                  <a:pt x="5459506" y="32109"/>
                  <a:pt x="5459506" y="71718"/>
                </a:cubicBezTo>
                <a:lnTo>
                  <a:pt x="5459506" y="717176"/>
                </a:lnTo>
                <a:cubicBezTo>
                  <a:pt x="5459506" y="756785"/>
                  <a:pt x="5427396" y="788894"/>
                  <a:pt x="5387788" y="788894"/>
                </a:cubicBez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185647" y="2244764"/>
            <a:ext cx="35859" cy="788894"/>
          </a:xfrm>
          <a:custGeom>
            <a:avLst/>
            <a:gdLst/>
            <a:ahLst/>
            <a:cxnLst/>
            <a:rect l="l" t="t" r="r" b="b"/>
            <a:pathLst>
              <a:path w="35859" h="788894">
                <a:moveTo>
                  <a:pt x="35859" y="0"/>
                </a:moveTo>
                <a:lnTo>
                  <a:pt x="35859" y="0"/>
                </a:lnTo>
                <a:lnTo>
                  <a:pt x="35859" y="788894"/>
                </a:ln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8" name="Shape 16"/>
          <p:cNvSpPr/>
          <p:nvPr/>
        </p:nvSpPr>
        <p:spPr>
          <a:xfrm>
            <a:off x="6364941" y="2424058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19" name="Text 17"/>
          <p:cNvSpPr/>
          <p:nvPr/>
        </p:nvSpPr>
        <p:spPr>
          <a:xfrm>
            <a:off x="6598024" y="2388199"/>
            <a:ext cx="1344706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Среднее значение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47012" y="2675070"/>
            <a:ext cx="52264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Вычисление arithmetic mean набора чисел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2984" y="3177093"/>
            <a:ext cx="5459506" cy="788894"/>
          </a:xfrm>
          <a:custGeom>
            <a:avLst/>
            <a:gdLst/>
            <a:ahLst/>
            <a:cxnLst/>
            <a:rect l="l" t="t" r="r" b="b"/>
            <a:pathLst>
              <a:path w="5459506" h="788894">
                <a:moveTo>
                  <a:pt x="35859" y="0"/>
                </a:moveTo>
                <a:lnTo>
                  <a:pt x="5387788" y="0"/>
                </a:lnTo>
                <a:cubicBezTo>
                  <a:pt x="5427396" y="0"/>
                  <a:pt x="5459506" y="32109"/>
                  <a:pt x="5459506" y="71718"/>
                </a:cubicBezTo>
                <a:lnTo>
                  <a:pt x="5459506" y="717176"/>
                </a:lnTo>
                <a:cubicBezTo>
                  <a:pt x="5459506" y="756785"/>
                  <a:pt x="5427396" y="788894"/>
                  <a:pt x="5387788" y="788894"/>
                </a:cubicBez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562984" y="3177093"/>
            <a:ext cx="35859" cy="788894"/>
          </a:xfrm>
          <a:custGeom>
            <a:avLst/>
            <a:gdLst/>
            <a:ahLst/>
            <a:cxnLst/>
            <a:rect l="l" t="t" r="r" b="b"/>
            <a:pathLst>
              <a:path w="35859" h="788894">
                <a:moveTo>
                  <a:pt x="35859" y="0"/>
                </a:moveTo>
                <a:lnTo>
                  <a:pt x="35859" y="0"/>
                </a:lnTo>
                <a:lnTo>
                  <a:pt x="35859" y="788894"/>
                </a:ln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3" name="Shape 21"/>
          <p:cNvSpPr/>
          <p:nvPr/>
        </p:nvSpPr>
        <p:spPr>
          <a:xfrm>
            <a:off x="742278" y="3356387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24" name="Text 22"/>
          <p:cNvSpPr/>
          <p:nvPr/>
        </p:nvSpPr>
        <p:spPr>
          <a:xfrm>
            <a:off x="975360" y="3320528"/>
            <a:ext cx="681318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Медиана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4348" y="3607399"/>
            <a:ext cx="52264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Определение центрального значения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5647" y="3177093"/>
            <a:ext cx="5459506" cy="788894"/>
          </a:xfrm>
          <a:custGeom>
            <a:avLst/>
            <a:gdLst/>
            <a:ahLst/>
            <a:cxnLst/>
            <a:rect l="l" t="t" r="r" b="b"/>
            <a:pathLst>
              <a:path w="5459506" h="788894">
                <a:moveTo>
                  <a:pt x="35859" y="0"/>
                </a:moveTo>
                <a:lnTo>
                  <a:pt x="5387788" y="0"/>
                </a:lnTo>
                <a:cubicBezTo>
                  <a:pt x="5427396" y="0"/>
                  <a:pt x="5459506" y="32109"/>
                  <a:pt x="5459506" y="71718"/>
                </a:cubicBezTo>
                <a:lnTo>
                  <a:pt x="5459506" y="717176"/>
                </a:lnTo>
                <a:cubicBezTo>
                  <a:pt x="5459506" y="756785"/>
                  <a:pt x="5427396" y="788894"/>
                  <a:pt x="5387788" y="788894"/>
                </a:cubicBez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185647" y="3177093"/>
            <a:ext cx="35859" cy="788894"/>
          </a:xfrm>
          <a:custGeom>
            <a:avLst/>
            <a:gdLst/>
            <a:ahLst/>
            <a:cxnLst/>
            <a:rect l="l" t="t" r="r" b="b"/>
            <a:pathLst>
              <a:path w="35859" h="788894">
                <a:moveTo>
                  <a:pt x="35859" y="0"/>
                </a:moveTo>
                <a:lnTo>
                  <a:pt x="35859" y="0"/>
                </a:lnTo>
                <a:lnTo>
                  <a:pt x="35859" y="788894"/>
                </a:ln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8" name="Shape 26"/>
          <p:cNvSpPr/>
          <p:nvPr/>
        </p:nvSpPr>
        <p:spPr>
          <a:xfrm>
            <a:off x="6364941" y="3356387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29" name="Text 27"/>
          <p:cNvSpPr/>
          <p:nvPr/>
        </p:nvSpPr>
        <p:spPr>
          <a:xfrm>
            <a:off x="6598024" y="3320528"/>
            <a:ext cx="1559859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Минимум и максимум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47012" y="3607399"/>
            <a:ext cx="52264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Поиск экстремальных значений в наборе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2984" y="4109422"/>
            <a:ext cx="5459506" cy="788894"/>
          </a:xfrm>
          <a:custGeom>
            <a:avLst/>
            <a:gdLst/>
            <a:ahLst/>
            <a:cxnLst/>
            <a:rect l="l" t="t" r="r" b="b"/>
            <a:pathLst>
              <a:path w="5459506" h="788894">
                <a:moveTo>
                  <a:pt x="35859" y="0"/>
                </a:moveTo>
                <a:lnTo>
                  <a:pt x="5387788" y="0"/>
                </a:lnTo>
                <a:cubicBezTo>
                  <a:pt x="5427396" y="0"/>
                  <a:pt x="5459506" y="32109"/>
                  <a:pt x="5459506" y="71718"/>
                </a:cubicBezTo>
                <a:lnTo>
                  <a:pt x="5459506" y="717176"/>
                </a:lnTo>
                <a:cubicBezTo>
                  <a:pt x="5459506" y="756785"/>
                  <a:pt x="5427396" y="788894"/>
                  <a:pt x="5387788" y="788894"/>
                </a:cubicBez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562984" y="4109422"/>
            <a:ext cx="35859" cy="788894"/>
          </a:xfrm>
          <a:custGeom>
            <a:avLst/>
            <a:gdLst/>
            <a:ahLst/>
            <a:cxnLst/>
            <a:rect l="l" t="t" r="r" b="b"/>
            <a:pathLst>
              <a:path w="35859" h="788894">
                <a:moveTo>
                  <a:pt x="35859" y="0"/>
                </a:moveTo>
                <a:lnTo>
                  <a:pt x="35859" y="0"/>
                </a:lnTo>
                <a:lnTo>
                  <a:pt x="35859" y="788894"/>
                </a:ln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3" name="Shape 31"/>
          <p:cNvSpPr/>
          <p:nvPr/>
        </p:nvSpPr>
        <p:spPr>
          <a:xfrm>
            <a:off x="742278" y="4288717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34" name="Text 32"/>
          <p:cNvSpPr/>
          <p:nvPr/>
        </p:nvSpPr>
        <p:spPr>
          <a:xfrm>
            <a:off x="975360" y="4252858"/>
            <a:ext cx="1801906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Стандартное отклонение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4348" y="4539728"/>
            <a:ext cx="52264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Оценка разброса данных относительно среднего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5647" y="4109422"/>
            <a:ext cx="5459506" cy="788894"/>
          </a:xfrm>
          <a:custGeom>
            <a:avLst/>
            <a:gdLst/>
            <a:ahLst/>
            <a:cxnLst/>
            <a:rect l="l" t="t" r="r" b="b"/>
            <a:pathLst>
              <a:path w="5459506" h="788894">
                <a:moveTo>
                  <a:pt x="35859" y="0"/>
                </a:moveTo>
                <a:lnTo>
                  <a:pt x="5387788" y="0"/>
                </a:lnTo>
                <a:cubicBezTo>
                  <a:pt x="5427396" y="0"/>
                  <a:pt x="5459506" y="32109"/>
                  <a:pt x="5459506" y="71718"/>
                </a:cubicBezTo>
                <a:lnTo>
                  <a:pt x="5459506" y="717176"/>
                </a:lnTo>
                <a:cubicBezTo>
                  <a:pt x="5459506" y="756785"/>
                  <a:pt x="5427396" y="788894"/>
                  <a:pt x="5387788" y="788894"/>
                </a:cubicBez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185647" y="4109422"/>
            <a:ext cx="35859" cy="788894"/>
          </a:xfrm>
          <a:custGeom>
            <a:avLst/>
            <a:gdLst/>
            <a:ahLst/>
            <a:cxnLst/>
            <a:rect l="l" t="t" r="r" b="b"/>
            <a:pathLst>
              <a:path w="35859" h="788894">
                <a:moveTo>
                  <a:pt x="35859" y="0"/>
                </a:moveTo>
                <a:lnTo>
                  <a:pt x="35859" y="0"/>
                </a:lnTo>
                <a:lnTo>
                  <a:pt x="35859" y="788894"/>
                </a:lnTo>
                <a:lnTo>
                  <a:pt x="35859" y="788894"/>
                </a:lnTo>
                <a:cubicBezTo>
                  <a:pt x="16055" y="788894"/>
                  <a:pt x="0" y="772840"/>
                  <a:pt x="0" y="753035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8" name="Shape 36"/>
          <p:cNvSpPr/>
          <p:nvPr/>
        </p:nvSpPr>
        <p:spPr>
          <a:xfrm>
            <a:off x="6364941" y="4288717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39" name="Text 37"/>
          <p:cNvSpPr/>
          <p:nvPr/>
        </p:nvSpPr>
        <p:spPr>
          <a:xfrm>
            <a:off x="6598024" y="4252858"/>
            <a:ext cx="1461247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Гистограмма и файл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47012" y="4539728"/>
            <a:ext cx="5226424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Построение графика и сохранение в result.txt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2174" y="5231802"/>
            <a:ext cx="5654936" cy="1620819"/>
          </a:xfrm>
          <a:custGeom>
            <a:avLst/>
            <a:gdLst/>
            <a:ahLst/>
            <a:cxnLst/>
            <a:rect l="l" t="t" r="r" b="b"/>
            <a:pathLst>
              <a:path w="5654936" h="1620819">
                <a:moveTo>
                  <a:pt x="107574" y="0"/>
                </a:moveTo>
                <a:lnTo>
                  <a:pt x="5547363" y="0"/>
                </a:lnTo>
                <a:cubicBezTo>
                  <a:pt x="5606774" y="0"/>
                  <a:pt x="5654936" y="48162"/>
                  <a:pt x="5654936" y="107574"/>
                </a:cubicBezTo>
                <a:lnTo>
                  <a:pt x="5654936" y="1513245"/>
                </a:lnTo>
                <a:cubicBezTo>
                  <a:pt x="5654936" y="1572656"/>
                  <a:pt x="5606774" y="1620819"/>
                  <a:pt x="5547363" y="1620819"/>
                </a:cubicBezTo>
                <a:lnTo>
                  <a:pt x="107574" y="1620819"/>
                </a:lnTo>
                <a:cubicBezTo>
                  <a:pt x="48162" y="1620819"/>
                  <a:pt x="0" y="1572656"/>
                  <a:pt x="0" y="1513245"/>
                </a:cubicBezTo>
                <a:lnTo>
                  <a:pt x="0" y="107574"/>
                </a:lnTo>
                <a:cubicBezTo>
                  <a:pt x="0" y="48202"/>
                  <a:pt x="48202" y="0"/>
                  <a:pt x="10757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5054" y="5414682"/>
            <a:ext cx="358588" cy="358588"/>
          </a:xfrm>
          <a:custGeom>
            <a:avLst/>
            <a:gdLst/>
            <a:ahLst/>
            <a:cxnLst/>
            <a:rect l="l" t="t" r="r" b="b"/>
            <a:pathLst>
              <a:path w="358588" h="358588">
                <a:moveTo>
                  <a:pt x="71718" y="0"/>
                </a:moveTo>
                <a:lnTo>
                  <a:pt x="286871" y="0"/>
                </a:lnTo>
                <a:cubicBezTo>
                  <a:pt x="326479" y="0"/>
                  <a:pt x="358588" y="32109"/>
                  <a:pt x="358588" y="71718"/>
                </a:cubicBezTo>
                <a:lnTo>
                  <a:pt x="358588" y="286871"/>
                </a:lnTo>
                <a:cubicBezTo>
                  <a:pt x="358588" y="326479"/>
                  <a:pt x="326479" y="358588"/>
                  <a:pt x="286871" y="358588"/>
                </a:cubicBezTo>
                <a:lnTo>
                  <a:pt x="71718" y="358588"/>
                </a:lnTo>
                <a:cubicBezTo>
                  <a:pt x="32109" y="358588"/>
                  <a:pt x="0" y="326479"/>
                  <a:pt x="0" y="286871"/>
                </a:cubicBezTo>
                <a:lnTo>
                  <a:pt x="0" y="71718"/>
                </a:lnTo>
                <a:cubicBezTo>
                  <a:pt x="0" y="32136"/>
                  <a:pt x="32136" y="0"/>
                  <a:pt x="717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3" name="Shape 41"/>
          <p:cNvSpPr/>
          <p:nvPr/>
        </p:nvSpPr>
        <p:spPr>
          <a:xfrm>
            <a:off x="652631" y="5522259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34499" y="53788"/>
                </a:moveTo>
                <a:lnTo>
                  <a:pt x="136712" y="53788"/>
                </a:lnTo>
                <a:cubicBezTo>
                  <a:pt x="140438" y="53788"/>
                  <a:pt x="143435" y="50791"/>
                  <a:pt x="143435" y="47065"/>
                </a:cubicBezTo>
                <a:lnTo>
                  <a:pt x="143435" y="6724"/>
                </a:lnTo>
                <a:cubicBezTo>
                  <a:pt x="143435" y="4006"/>
                  <a:pt x="141810" y="1541"/>
                  <a:pt x="139289" y="504"/>
                </a:cubicBezTo>
                <a:cubicBezTo>
                  <a:pt x="136768" y="-532"/>
                  <a:pt x="133882" y="56"/>
                  <a:pt x="131949" y="1961"/>
                </a:cubicBezTo>
                <a:lnTo>
                  <a:pt x="117466" y="16473"/>
                </a:lnTo>
                <a:cubicBezTo>
                  <a:pt x="105055" y="6191"/>
                  <a:pt x="89087" y="0"/>
                  <a:pt x="71718" y="0"/>
                </a:cubicBezTo>
                <a:cubicBezTo>
                  <a:pt x="35579" y="0"/>
                  <a:pt x="5687" y="26726"/>
                  <a:pt x="728" y="61492"/>
                </a:cubicBezTo>
                <a:cubicBezTo>
                  <a:pt x="28" y="66395"/>
                  <a:pt x="3418" y="70933"/>
                  <a:pt x="8320" y="71634"/>
                </a:cubicBezTo>
                <a:cubicBezTo>
                  <a:pt x="13223" y="72334"/>
                  <a:pt x="17761" y="68916"/>
                  <a:pt x="18462" y="64042"/>
                </a:cubicBezTo>
                <a:cubicBezTo>
                  <a:pt x="22188" y="37960"/>
                  <a:pt x="44627" y="17929"/>
                  <a:pt x="71718" y="17929"/>
                </a:cubicBezTo>
                <a:cubicBezTo>
                  <a:pt x="84156" y="17929"/>
                  <a:pt x="95586" y="22132"/>
                  <a:pt x="104691" y="29219"/>
                </a:cubicBezTo>
                <a:lnTo>
                  <a:pt x="91608" y="42302"/>
                </a:lnTo>
                <a:cubicBezTo>
                  <a:pt x="89675" y="44235"/>
                  <a:pt x="89115" y="47121"/>
                  <a:pt x="90151" y="49642"/>
                </a:cubicBezTo>
                <a:cubicBezTo>
                  <a:pt x="91188" y="52163"/>
                  <a:pt x="93653" y="53788"/>
                  <a:pt x="96371" y="53788"/>
                </a:cubicBezTo>
                <a:lnTo>
                  <a:pt x="134499" y="53788"/>
                </a:lnTo>
                <a:close/>
                <a:moveTo>
                  <a:pt x="142735" y="81943"/>
                </a:moveTo>
                <a:cubicBezTo>
                  <a:pt x="143435" y="77040"/>
                  <a:pt x="140018" y="72502"/>
                  <a:pt x="135143" y="71802"/>
                </a:cubicBezTo>
                <a:cubicBezTo>
                  <a:pt x="130268" y="71101"/>
                  <a:pt x="125702" y="74519"/>
                  <a:pt x="125002" y="79394"/>
                </a:cubicBezTo>
                <a:cubicBezTo>
                  <a:pt x="121276" y="105447"/>
                  <a:pt x="98836" y="125478"/>
                  <a:pt x="71746" y="125478"/>
                </a:cubicBezTo>
                <a:cubicBezTo>
                  <a:pt x="59307" y="125478"/>
                  <a:pt x="47877" y="121276"/>
                  <a:pt x="38772" y="114188"/>
                </a:cubicBezTo>
                <a:lnTo>
                  <a:pt x="51827" y="101133"/>
                </a:lnTo>
                <a:cubicBezTo>
                  <a:pt x="53760" y="99200"/>
                  <a:pt x="54321" y="96315"/>
                  <a:pt x="53284" y="93793"/>
                </a:cubicBezTo>
                <a:cubicBezTo>
                  <a:pt x="52247" y="91272"/>
                  <a:pt x="49782" y="89647"/>
                  <a:pt x="47065" y="89647"/>
                </a:cubicBezTo>
                <a:lnTo>
                  <a:pt x="6724" y="89647"/>
                </a:lnTo>
                <a:cubicBezTo>
                  <a:pt x="2998" y="89647"/>
                  <a:pt x="0" y="92645"/>
                  <a:pt x="0" y="96371"/>
                </a:cubicBezTo>
                <a:lnTo>
                  <a:pt x="0" y="136712"/>
                </a:lnTo>
                <a:cubicBezTo>
                  <a:pt x="0" y="139429"/>
                  <a:pt x="1625" y="141894"/>
                  <a:pt x="4146" y="142931"/>
                </a:cubicBezTo>
                <a:cubicBezTo>
                  <a:pt x="6668" y="143968"/>
                  <a:pt x="9553" y="143379"/>
                  <a:pt x="11486" y="141474"/>
                </a:cubicBezTo>
                <a:lnTo>
                  <a:pt x="25998" y="126963"/>
                </a:lnTo>
                <a:cubicBezTo>
                  <a:pt x="38380" y="137244"/>
                  <a:pt x="54349" y="143435"/>
                  <a:pt x="71718" y="143435"/>
                </a:cubicBezTo>
                <a:cubicBezTo>
                  <a:pt x="107857" y="143435"/>
                  <a:pt x="137748" y="116709"/>
                  <a:pt x="142707" y="81943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44" name="Text 42"/>
          <p:cNvSpPr/>
          <p:nvPr/>
        </p:nvSpPr>
        <p:spPr>
          <a:xfrm>
            <a:off x="1011219" y="5468471"/>
            <a:ext cx="2330824" cy="251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2. Преобразование систем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98842" y="5916706"/>
            <a:ext cx="71718" cy="143435"/>
          </a:xfrm>
          <a:custGeom>
            <a:avLst/>
            <a:gdLst/>
            <a:ahLst/>
            <a:cxnLst/>
            <a:rect l="l" t="t" r="r" b="b"/>
            <a:pathLst>
              <a:path w="71718" h="143435">
                <a:moveTo>
                  <a:pt x="9105" y="26894"/>
                </a:moveTo>
                <a:cubicBezTo>
                  <a:pt x="9105" y="23280"/>
                  <a:pt x="11290" y="20003"/>
                  <a:pt x="14652" y="18602"/>
                </a:cubicBezTo>
                <a:cubicBezTo>
                  <a:pt x="18013" y="17201"/>
                  <a:pt x="21851" y="17985"/>
                  <a:pt x="24401" y="20563"/>
                </a:cubicBezTo>
                <a:lnTo>
                  <a:pt x="69224" y="65386"/>
                </a:lnTo>
                <a:cubicBezTo>
                  <a:pt x="72726" y="68888"/>
                  <a:pt x="72726" y="74575"/>
                  <a:pt x="69224" y="78077"/>
                </a:cubicBezTo>
                <a:lnTo>
                  <a:pt x="24401" y="122901"/>
                </a:lnTo>
                <a:cubicBezTo>
                  <a:pt x="21823" y="125478"/>
                  <a:pt x="17985" y="126234"/>
                  <a:pt x="14624" y="124834"/>
                </a:cubicBezTo>
                <a:cubicBezTo>
                  <a:pt x="11262" y="123433"/>
                  <a:pt x="9105" y="120155"/>
                  <a:pt x="9105" y="116541"/>
                </a:cubicBezTo>
                <a:lnTo>
                  <a:pt x="9105" y="2689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6" name="Text 44"/>
          <p:cNvSpPr/>
          <p:nvPr/>
        </p:nvSpPr>
        <p:spPr>
          <a:xfrm>
            <a:off x="796066" y="5880847"/>
            <a:ext cx="3254188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Принимает числовые данные от пользователя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8842" y="6203576"/>
            <a:ext cx="71718" cy="143435"/>
          </a:xfrm>
          <a:custGeom>
            <a:avLst/>
            <a:gdLst/>
            <a:ahLst/>
            <a:cxnLst/>
            <a:rect l="l" t="t" r="r" b="b"/>
            <a:pathLst>
              <a:path w="71718" h="143435">
                <a:moveTo>
                  <a:pt x="9105" y="26894"/>
                </a:moveTo>
                <a:cubicBezTo>
                  <a:pt x="9105" y="23280"/>
                  <a:pt x="11290" y="20003"/>
                  <a:pt x="14652" y="18602"/>
                </a:cubicBezTo>
                <a:cubicBezTo>
                  <a:pt x="18013" y="17201"/>
                  <a:pt x="21851" y="17985"/>
                  <a:pt x="24401" y="20563"/>
                </a:cubicBezTo>
                <a:lnTo>
                  <a:pt x="69224" y="65386"/>
                </a:lnTo>
                <a:cubicBezTo>
                  <a:pt x="72726" y="68888"/>
                  <a:pt x="72726" y="74575"/>
                  <a:pt x="69224" y="78077"/>
                </a:cubicBezTo>
                <a:lnTo>
                  <a:pt x="24401" y="122901"/>
                </a:lnTo>
                <a:cubicBezTo>
                  <a:pt x="21823" y="125478"/>
                  <a:pt x="17985" y="126234"/>
                  <a:pt x="14624" y="124834"/>
                </a:cubicBezTo>
                <a:cubicBezTo>
                  <a:pt x="11262" y="123433"/>
                  <a:pt x="9105" y="120155"/>
                  <a:pt x="9105" y="116541"/>
                </a:cubicBezTo>
                <a:lnTo>
                  <a:pt x="9105" y="2689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8" name="Text 46"/>
          <p:cNvSpPr/>
          <p:nvPr/>
        </p:nvSpPr>
        <p:spPr>
          <a:xfrm>
            <a:off x="796066" y="6167718"/>
            <a:ext cx="3774141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Вычисляет преобразование между 2/10/16 системами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98842" y="6490447"/>
            <a:ext cx="71718" cy="143435"/>
          </a:xfrm>
          <a:custGeom>
            <a:avLst/>
            <a:gdLst/>
            <a:ahLst/>
            <a:cxnLst/>
            <a:rect l="l" t="t" r="r" b="b"/>
            <a:pathLst>
              <a:path w="71718" h="143435">
                <a:moveTo>
                  <a:pt x="9105" y="26894"/>
                </a:moveTo>
                <a:cubicBezTo>
                  <a:pt x="9105" y="23280"/>
                  <a:pt x="11290" y="20003"/>
                  <a:pt x="14652" y="18602"/>
                </a:cubicBezTo>
                <a:cubicBezTo>
                  <a:pt x="18013" y="17201"/>
                  <a:pt x="21851" y="17985"/>
                  <a:pt x="24401" y="20563"/>
                </a:cubicBezTo>
                <a:lnTo>
                  <a:pt x="69224" y="65386"/>
                </a:lnTo>
                <a:cubicBezTo>
                  <a:pt x="72726" y="68888"/>
                  <a:pt x="72726" y="74575"/>
                  <a:pt x="69224" y="78077"/>
                </a:cubicBezTo>
                <a:lnTo>
                  <a:pt x="24401" y="122901"/>
                </a:lnTo>
                <a:cubicBezTo>
                  <a:pt x="21823" y="125478"/>
                  <a:pt x="17985" y="126234"/>
                  <a:pt x="14624" y="124834"/>
                </a:cubicBezTo>
                <a:cubicBezTo>
                  <a:pt x="11262" y="123433"/>
                  <a:pt x="9105" y="120155"/>
                  <a:pt x="9105" y="116541"/>
                </a:cubicBezTo>
                <a:lnTo>
                  <a:pt x="9105" y="2689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0" name="Text 48"/>
          <p:cNvSpPr/>
          <p:nvPr/>
        </p:nvSpPr>
        <p:spPr>
          <a:xfrm>
            <a:off x="796066" y="6454588"/>
            <a:ext cx="2707341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Сохраняет результаты анализа в файл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1304" y="5231802"/>
            <a:ext cx="5654936" cy="1620819"/>
          </a:xfrm>
          <a:custGeom>
            <a:avLst/>
            <a:gdLst/>
            <a:ahLst/>
            <a:cxnLst/>
            <a:rect l="l" t="t" r="r" b="b"/>
            <a:pathLst>
              <a:path w="5654936" h="1620819">
                <a:moveTo>
                  <a:pt x="107574" y="0"/>
                </a:moveTo>
                <a:lnTo>
                  <a:pt x="5547363" y="0"/>
                </a:lnTo>
                <a:cubicBezTo>
                  <a:pt x="5606774" y="0"/>
                  <a:pt x="5654936" y="48162"/>
                  <a:pt x="5654936" y="107574"/>
                </a:cubicBezTo>
                <a:lnTo>
                  <a:pt x="5654936" y="1513245"/>
                </a:lnTo>
                <a:cubicBezTo>
                  <a:pt x="5654936" y="1572656"/>
                  <a:pt x="5606774" y="1620819"/>
                  <a:pt x="5547363" y="1620819"/>
                </a:cubicBezTo>
                <a:lnTo>
                  <a:pt x="107574" y="1620819"/>
                </a:lnTo>
                <a:cubicBezTo>
                  <a:pt x="48162" y="1620819"/>
                  <a:pt x="0" y="1572656"/>
                  <a:pt x="0" y="1513245"/>
                </a:cubicBezTo>
                <a:lnTo>
                  <a:pt x="0" y="107574"/>
                </a:lnTo>
                <a:cubicBezTo>
                  <a:pt x="0" y="48202"/>
                  <a:pt x="48202" y="0"/>
                  <a:pt x="10757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4183" y="5414682"/>
            <a:ext cx="358588" cy="358588"/>
          </a:xfrm>
          <a:custGeom>
            <a:avLst/>
            <a:gdLst/>
            <a:ahLst/>
            <a:cxnLst/>
            <a:rect l="l" t="t" r="r" b="b"/>
            <a:pathLst>
              <a:path w="358588" h="358588">
                <a:moveTo>
                  <a:pt x="71718" y="0"/>
                </a:moveTo>
                <a:lnTo>
                  <a:pt x="286871" y="0"/>
                </a:lnTo>
                <a:cubicBezTo>
                  <a:pt x="326479" y="0"/>
                  <a:pt x="358588" y="32109"/>
                  <a:pt x="358588" y="71718"/>
                </a:cubicBezTo>
                <a:lnTo>
                  <a:pt x="358588" y="286871"/>
                </a:lnTo>
                <a:cubicBezTo>
                  <a:pt x="358588" y="326479"/>
                  <a:pt x="326479" y="358588"/>
                  <a:pt x="286871" y="358588"/>
                </a:cubicBezTo>
                <a:lnTo>
                  <a:pt x="71718" y="358588"/>
                </a:lnTo>
                <a:cubicBezTo>
                  <a:pt x="32109" y="358588"/>
                  <a:pt x="0" y="326479"/>
                  <a:pt x="0" y="286871"/>
                </a:cubicBezTo>
                <a:lnTo>
                  <a:pt x="0" y="71718"/>
                </a:lnTo>
                <a:cubicBezTo>
                  <a:pt x="0" y="32136"/>
                  <a:pt x="32136" y="0"/>
                  <a:pt x="717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53" name="Shape 51"/>
          <p:cNvSpPr/>
          <p:nvPr/>
        </p:nvSpPr>
        <p:spPr>
          <a:xfrm>
            <a:off x="6461760" y="5522259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80682" y="0"/>
                </a:moveTo>
                <a:cubicBezTo>
                  <a:pt x="80682" y="-4959"/>
                  <a:pt x="76676" y="-8965"/>
                  <a:pt x="71718" y="-8965"/>
                </a:cubicBezTo>
                <a:cubicBezTo>
                  <a:pt x="66759" y="-8965"/>
                  <a:pt x="62753" y="-4959"/>
                  <a:pt x="62753" y="0"/>
                </a:cubicBezTo>
                <a:lnTo>
                  <a:pt x="62753" y="71718"/>
                </a:lnTo>
                <a:cubicBezTo>
                  <a:pt x="62753" y="76676"/>
                  <a:pt x="66759" y="80682"/>
                  <a:pt x="71718" y="80682"/>
                </a:cubicBezTo>
                <a:cubicBezTo>
                  <a:pt x="76676" y="80682"/>
                  <a:pt x="80682" y="76676"/>
                  <a:pt x="80682" y="71718"/>
                </a:cubicBezTo>
                <a:lnTo>
                  <a:pt x="80682" y="0"/>
                </a:lnTo>
                <a:close/>
                <a:moveTo>
                  <a:pt x="40986" y="27566"/>
                </a:moveTo>
                <a:cubicBezTo>
                  <a:pt x="45048" y="24737"/>
                  <a:pt x="46028" y="19134"/>
                  <a:pt x="43199" y="15072"/>
                </a:cubicBezTo>
                <a:cubicBezTo>
                  <a:pt x="40369" y="11010"/>
                  <a:pt x="34766" y="10029"/>
                  <a:pt x="30704" y="12859"/>
                </a:cubicBezTo>
                <a:cubicBezTo>
                  <a:pt x="12158" y="25802"/>
                  <a:pt x="0" y="47345"/>
                  <a:pt x="0" y="71718"/>
                </a:cubicBezTo>
                <a:cubicBezTo>
                  <a:pt x="0" y="111330"/>
                  <a:pt x="32105" y="143435"/>
                  <a:pt x="71718" y="143435"/>
                </a:cubicBezTo>
                <a:cubicBezTo>
                  <a:pt x="111330" y="143435"/>
                  <a:pt x="143435" y="111330"/>
                  <a:pt x="143435" y="71718"/>
                </a:cubicBezTo>
                <a:cubicBezTo>
                  <a:pt x="143435" y="47345"/>
                  <a:pt x="131277" y="25802"/>
                  <a:pt x="112703" y="12859"/>
                </a:cubicBezTo>
                <a:cubicBezTo>
                  <a:pt x="108641" y="10029"/>
                  <a:pt x="103066" y="11010"/>
                  <a:pt x="100209" y="15072"/>
                </a:cubicBezTo>
                <a:cubicBezTo>
                  <a:pt x="97351" y="19134"/>
                  <a:pt x="98360" y="24709"/>
                  <a:pt x="102422" y="27566"/>
                </a:cubicBezTo>
                <a:cubicBezTo>
                  <a:pt x="116373" y="37316"/>
                  <a:pt x="125478" y="53452"/>
                  <a:pt x="125478" y="71718"/>
                </a:cubicBezTo>
                <a:cubicBezTo>
                  <a:pt x="125478" y="101413"/>
                  <a:pt x="101385" y="125506"/>
                  <a:pt x="71690" y="125506"/>
                </a:cubicBezTo>
                <a:cubicBezTo>
                  <a:pt x="41994" y="125506"/>
                  <a:pt x="17929" y="101413"/>
                  <a:pt x="17929" y="71718"/>
                </a:cubicBezTo>
                <a:cubicBezTo>
                  <a:pt x="17929" y="53452"/>
                  <a:pt x="27034" y="37288"/>
                  <a:pt x="40986" y="27566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54" name="Text 52"/>
          <p:cNvSpPr/>
          <p:nvPr/>
        </p:nvSpPr>
        <p:spPr>
          <a:xfrm>
            <a:off x="6820348" y="5468471"/>
            <a:ext cx="1317812" cy="2510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3. Завершение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07972" y="5916706"/>
            <a:ext cx="71718" cy="143435"/>
          </a:xfrm>
          <a:custGeom>
            <a:avLst/>
            <a:gdLst/>
            <a:ahLst/>
            <a:cxnLst/>
            <a:rect l="l" t="t" r="r" b="b"/>
            <a:pathLst>
              <a:path w="71718" h="143435">
                <a:moveTo>
                  <a:pt x="9105" y="26894"/>
                </a:moveTo>
                <a:cubicBezTo>
                  <a:pt x="9105" y="23280"/>
                  <a:pt x="11290" y="20003"/>
                  <a:pt x="14652" y="18602"/>
                </a:cubicBezTo>
                <a:cubicBezTo>
                  <a:pt x="18013" y="17201"/>
                  <a:pt x="21851" y="17985"/>
                  <a:pt x="24401" y="20563"/>
                </a:cubicBezTo>
                <a:lnTo>
                  <a:pt x="69224" y="65386"/>
                </a:lnTo>
                <a:cubicBezTo>
                  <a:pt x="72726" y="68888"/>
                  <a:pt x="72726" y="74575"/>
                  <a:pt x="69224" y="78077"/>
                </a:cubicBezTo>
                <a:lnTo>
                  <a:pt x="24401" y="122901"/>
                </a:lnTo>
                <a:cubicBezTo>
                  <a:pt x="21823" y="125478"/>
                  <a:pt x="17985" y="126234"/>
                  <a:pt x="14624" y="124834"/>
                </a:cubicBezTo>
                <a:cubicBezTo>
                  <a:pt x="11262" y="123433"/>
                  <a:pt x="9105" y="120155"/>
                  <a:pt x="9105" y="116541"/>
                </a:cubicBezTo>
                <a:lnTo>
                  <a:pt x="9105" y="2689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6" name="Text 54"/>
          <p:cNvSpPr/>
          <p:nvPr/>
        </p:nvSpPr>
        <p:spPr>
          <a:xfrm>
            <a:off x="6605195" y="5880847"/>
            <a:ext cx="3119718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Корректное завершение работы программы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7972" y="6203576"/>
            <a:ext cx="71718" cy="143435"/>
          </a:xfrm>
          <a:custGeom>
            <a:avLst/>
            <a:gdLst/>
            <a:ahLst/>
            <a:cxnLst/>
            <a:rect l="l" t="t" r="r" b="b"/>
            <a:pathLst>
              <a:path w="71718" h="143435">
                <a:moveTo>
                  <a:pt x="9105" y="26894"/>
                </a:moveTo>
                <a:cubicBezTo>
                  <a:pt x="9105" y="23280"/>
                  <a:pt x="11290" y="20003"/>
                  <a:pt x="14652" y="18602"/>
                </a:cubicBezTo>
                <a:cubicBezTo>
                  <a:pt x="18013" y="17201"/>
                  <a:pt x="21851" y="17985"/>
                  <a:pt x="24401" y="20563"/>
                </a:cubicBezTo>
                <a:lnTo>
                  <a:pt x="69224" y="65386"/>
                </a:lnTo>
                <a:cubicBezTo>
                  <a:pt x="72726" y="68888"/>
                  <a:pt x="72726" y="74575"/>
                  <a:pt x="69224" y="78077"/>
                </a:cubicBezTo>
                <a:lnTo>
                  <a:pt x="24401" y="122901"/>
                </a:lnTo>
                <a:cubicBezTo>
                  <a:pt x="21823" y="125478"/>
                  <a:pt x="17985" y="126234"/>
                  <a:pt x="14624" y="124834"/>
                </a:cubicBezTo>
                <a:cubicBezTo>
                  <a:pt x="11262" y="123433"/>
                  <a:pt x="9105" y="120155"/>
                  <a:pt x="9105" y="116541"/>
                </a:cubicBezTo>
                <a:lnTo>
                  <a:pt x="9105" y="2689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58" name="Text 56"/>
          <p:cNvSpPr/>
          <p:nvPr/>
        </p:nvSpPr>
        <p:spPr>
          <a:xfrm>
            <a:off x="6605195" y="6167718"/>
            <a:ext cx="1783976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Освобождение ресурсов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07972" y="6490447"/>
            <a:ext cx="71718" cy="143435"/>
          </a:xfrm>
          <a:custGeom>
            <a:avLst/>
            <a:gdLst/>
            <a:ahLst/>
            <a:cxnLst/>
            <a:rect l="l" t="t" r="r" b="b"/>
            <a:pathLst>
              <a:path w="71718" h="143435">
                <a:moveTo>
                  <a:pt x="9105" y="26894"/>
                </a:moveTo>
                <a:cubicBezTo>
                  <a:pt x="9105" y="23280"/>
                  <a:pt x="11290" y="20003"/>
                  <a:pt x="14652" y="18602"/>
                </a:cubicBezTo>
                <a:cubicBezTo>
                  <a:pt x="18013" y="17201"/>
                  <a:pt x="21851" y="17985"/>
                  <a:pt x="24401" y="20563"/>
                </a:cubicBezTo>
                <a:lnTo>
                  <a:pt x="69224" y="65386"/>
                </a:lnTo>
                <a:cubicBezTo>
                  <a:pt x="72726" y="68888"/>
                  <a:pt x="72726" y="74575"/>
                  <a:pt x="69224" y="78077"/>
                </a:cubicBezTo>
                <a:lnTo>
                  <a:pt x="24401" y="122901"/>
                </a:lnTo>
                <a:cubicBezTo>
                  <a:pt x="21823" y="125478"/>
                  <a:pt x="17985" y="126234"/>
                  <a:pt x="14624" y="124834"/>
                </a:cubicBezTo>
                <a:cubicBezTo>
                  <a:pt x="11262" y="123433"/>
                  <a:pt x="9105" y="120155"/>
                  <a:pt x="9105" y="116541"/>
                </a:cubicBezTo>
                <a:lnTo>
                  <a:pt x="9105" y="26894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0" name="Text 58"/>
          <p:cNvSpPr/>
          <p:nvPr/>
        </p:nvSpPr>
        <p:spPr>
          <a:xfrm>
            <a:off x="6605195" y="6454588"/>
            <a:ext cx="2877671" cy="215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Возможность многократных вычислений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15341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Нефункциональные требования и технологии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2541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384810" y="1504951"/>
            <a:ext cx="5589270" cy="4008120"/>
          </a:xfrm>
          <a:custGeom>
            <a:avLst/>
            <a:gdLst/>
            <a:ahLst/>
            <a:cxnLst/>
            <a:rect l="l" t="t" r="r" b="b"/>
            <a:pathLst>
              <a:path w="5589270" h="4008120">
                <a:moveTo>
                  <a:pt x="114312" y="0"/>
                </a:moveTo>
                <a:lnTo>
                  <a:pt x="5474958" y="0"/>
                </a:lnTo>
                <a:cubicBezTo>
                  <a:pt x="5538091" y="0"/>
                  <a:pt x="5589270" y="51179"/>
                  <a:pt x="5589270" y="114312"/>
                </a:cubicBezTo>
                <a:lnTo>
                  <a:pt x="5589270" y="3893808"/>
                </a:lnTo>
                <a:cubicBezTo>
                  <a:pt x="5589270" y="3956899"/>
                  <a:pt x="5538049" y="4008120"/>
                  <a:pt x="5474958" y="4008120"/>
                </a:cubicBezTo>
                <a:lnTo>
                  <a:pt x="114312" y="4008120"/>
                </a:lnTo>
                <a:cubicBezTo>
                  <a:pt x="51179" y="4008120"/>
                  <a:pt x="0" y="3956941"/>
                  <a:pt x="0" y="3893808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6992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693420" y="18135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4256" y="19050"/>
                  <a:pt x="0" y="23306"/>
                  <a:pt x="0" y="28575"/>
                </a:cubicBezTo>
                <a:cubicBezTo>
                  <a:pt x="0" y="33844"/>
                  <a:pt x="4256" y="38100"/>
                  <a:pt x="9525" y="38100"/>
                </a:cubicBezTo>
                <a:lnTo>
                  <a:pt x="35332" y="38100"/>
                </a:lnTo>
                <a:cubicBezTo>
                  <a:pt x="38993" y="46524"/>
                  <a:pt x="47387" y="52388"/>
                  <a:pt x="57150" y="52388"/>
                </a:cubicBezTo>
                <a:cubicBezTo>
                  <a:pt x="66913" y="52388"/>
                  <a:pt x="75307" y="46524"/>
                  <a:pt x="78968" y="38100"/>
                </a:cubicBezTo>
                <a:lnTo>
                  <a:pt x="142875" y="38100"/>
                </a:lnTo>
                <a:cubicBezTo>
                  <a:pt x="148144" y="38100"/>
                  <a:pt x="152400" y="33844"/>
                  <a:pt x="152400" y="28575"/>
                </a:cubicBezTo>
                <a:cubicBezTo>
                  <a:pt x="152400" y="23306"/>
                  <a:pt x="148144" y="19050"/>
                  <a:pt x="142875" y="19050"/>
                </a:cubicBezTo>
                <a:lnTo>
                  <a:pt x="78968" y="19050"/>
                </a:lnTo>
                <a:cubicBezTo>
                  <a:pt x="75307" y="10626"/>
                  <a:pt x="66913" y="4763"/>
                  <a:pt x="57150" y="4763"/>
                </a:cubicBezTo>
                <a:cubicBezTo>
                  <a:pt x="47387" y="4763"/>
                  <a:pt x="38993" y="10626"/>
                  <a:pt x="35332" y="19050"/>
                </a:cubicBezTo>
                <a:lnTo>
                  <a:pt x="9525" y="19050"/>
                </a:lnTo>
                <a:close/>
                <a:moveTo>
                  <a:pt x="9525" y="66675"/>
                </a:move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82957" y="85725"/>
                </a:lnTo>
                <a:cubicBezTo>
                  <a:pt x="86618" y="94149"/>
                  <a:pt x="95012" y="100013"/>
                  <a:pt x="104775" y="100013"/>
                </a:cubicBezTo>
                <a:cubicBezTo>
                  <a:pt x="114538" y="100013"/>
                  <a:pt x="122932" y="94149"/>
                  <a:pt x="126593" y="85725"/>
                </a:cubicBezTo>
                <a:lnTo>
                  <a:pt x="142875" y="85725"/>
                </a:lnTo>
                <a:cubicBezTo>
                  <a:pt x="148144" y="85725"/>
                  <a:pt x="152400" y="81469"/>
                  <a:pt x="152400" y="76200"/>
                </a:cubicBezTo>
                <a:cubicBezTo>
                  <a:pt x="152400" y="70931"/>
                  <a:pt x="148144" y="66675"/>
                  <a:pt x="142875" y="66675"/>
                </a:cubicBezTo>
                <a:lnTo>
                  <a:pt x="126593" y="66675"/>
                </a:lnTo>
                <a:cubicBezTo>
                  <a:pt x="122932" y="58251"/>
                  <a:pt x="114538" y="52388"/>
                  <a:pt x="104775" y="52388"/>
                </a:cubicBezTo>
                <a:cubicBezTo>
                  <a:pt x="95012" y="52388"/>
                  <a:pt x="86618" y="58251"/>
                  <a:pt x="82957" y="66675"/>
                </a:cubicBezTo>
                <a:lnTo>
                  <a:pt x="9525" y="66675"/>
                </a:lnTo>
                <a:close/>
                <a:moveTo>
                  <a:pt x="9525" y="114300"/>
                </a:moveTo>
                <a:cubicBezTo>
                  <a:pt x="4256" y="114300"/>
                  <a:pt x="0" y="118556"/>
                  <a:pt x="0" y="123825"/>
                </a:cubicBezTo>
                <a:cubicBezTo>
                  <a:pt x="0" y="129094"/>
                  <a:pt x="4256" y="133350"/>
                  <a:pt x="9525" y="133350"/>
                </a:cubicBezTo>
                <a:lnTo>
                  <a:pt x="25807" y="133350"/>
                </a:lnTo>
                <a:cubicBezTo>
                  <a:pt x="29468" y="141774"/>
                  <a:pt x="37862" y="147638"/>
                  <a:pt x="47625" y="147638"/>
                </a:cubicBezTo>
                <a:cubicBezTo>
                  <a:pt x="57388" y="147638"/>
                  <a:pt x="65782" y="141774"/>
                  <a:pt x="69443" y="133350"/>
                </a:cubicBezTo>
                <a:lnTo>
                  <a:pt x="142875" y="133350"/>
                </a:lnTo>
                <a:cubicBezTo>
                  <a:pt x="148144" y="133350"/>
                  <a:pt x="152400" y="129094"/>
                  <a:pt x="152400" y="123825"/>
                </a:cubicBezTo>
                <a:cubicBezTo>
                  <a:pt x="152400" y="118556"/>
                  <a:pt x="148144" y="114300"/>
                  <a:pt x="142875" y="114300"/>
                </a:cubicBezTo>
                <a:lnTo>
                  <a:pt x="69443" y="114300"/>
                </a:lnTo>
                <a:cubicBezTo>
                  <a:pt x="65782" y="105876"/>
                  <a:pt x="57388" y="100013"/>
                  <a:pt x="47625" y="100013"/>
                </a:cubicBezTo>
                <a:cubicBezTo>
                  <a:pt x="37862" y="100013"/>
                  <a:pt x="29468" y="105876"/>
                  <a:pt x="25807" y="114300"/>
                </a:cubicBezTo>
                <a:lnTo>
                  <a:pt x="9525" y="114300"/>
                </a:lnTo>
                <a:close/>
              </a:path>
            </a:pathLst>
          </a:custGeom>
          <a:solidFill>
            <a:srgbClr val="ECEFF4"/>
          </a:solidFill>
        </p:spPr>
      </p:sp>
      <p:sp>
        <p:nvSpPr>
          <p:cNvPr id="9" name="Text 7"/>
          <p:cNvSpPr/>
          <p:nvPr/>
        </p:nvSpPr>
        <p:spPr>
          <a:xfrm>
            <a:off x="1074420" y="1737361"/>
            <a:ext cx="3457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Нефункциональные требования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223265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717233" y="23850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2" name="Text 10"/>
          <p:cNvSpPr/>
          <p:nvPr/>
        </p:nvSpPr>
        <p:spPr>
          <a:xfrm>
            <a:off x="1045845" y="2346959"/>
            <a:ext cx="45434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Простота использования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5845" y="2613659"/>
            <a:ext cx="4533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Интуитивно понятный консольный интерфейс с четкими подсказками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" y="303275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717233" y="31851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16" name="Text 14"/>
          <p:cNvSpPr/>
          <p:nvPr/>
        </p:nvSpPr>
        <p:spPr>
          <a:xfrm>
            <a:off x="1045845" y="3147059"/>
            <a:ext cx="3724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Корректная обработка ошибок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5845" y="3413759"/>
            <a:ext cx="3714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Проверка ввода, информативные сообщения об ошибках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" y="383285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717233" y="39852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0" name="Text 18"/>
          <p:cNvSpPr/>
          <p:nvPr/>
        </p:nvSpPr>
        <p:spPr>
          <a:xfrm>
            <a:off x="1045845" y="3947159"/>
            <a:ext cx="3952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Быстрая обработка данных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5845" y="4213859"/>
            <a:ext cx="3943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Оптимизированные алгоритмы для мгновенных вычислений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" y="4632959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717233" y="478535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4" name="Text 22"/>
          <p:cNvSpPr/>
          <p:nvPr/>
        </p:nvSpPr>
        <p:spPr>
          <a:xfrm>
            <a:off x="1045845" y="4747259"/>
            <a:ext cx="3495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Понятный интерфейс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5845" y="5013959"/>
            <a:ext cx="3486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Структурированное меню и форматированный вывод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4110" y="1504951"/>
            <a:ext cx="5589270" cy="3188970"/>
          </a:xfrm>
          <a:custGeom>
            <a:avLst/>
            <a:gdLst/>
            <a:ahLst/>
            <a:cxnLst/>
            <a:rect l="l" t="t" r="r" b="b"/>
            <a:pathLst>
              <a:path w="5589270" h="318897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3074677"/>
                </a:lnTo>
                <a:cubicBezTo>
                  <a:pt x="5589270" y="3137799"/>
                  <a:pt x="5538099" y="3188970"/>
                  <a:pt x="5474977" y="3188970"/>
                </a:cubicBezTo>
                <a:lnTo>
                  <a:pt x="114293" y="3188970"/>
                </a:lnTo>
                <a:cubicBezTo>
                  <a:pt x="51171" y="3188970"/>
                  <a:pt x="0" y="3137799"/>
                  <a:pt x="0" y="30746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8420" y="16992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8" name="Shape 26"/>
          <p:cNvSpPr/>
          <p:nvPr/>
        </p:nvSpPr>
        <p:spPr>
          <a:xfrm>
            <a:off x="6532245" y="181356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0909" y="59680"/>
                </a:moveTo>
                <a:cubicBezTo>
                  <a:pt x="128617" y="50483"/>
                  <a:pt x="124271" y="43547"/>
                  <a:pt x="115014" y="43547"/>
                </a:cubicBezTo>
                <a:lnTo>
                  <a:pt x="103078" y="43547"/>
                </a:lnTo>
                <a:lnTo>
                  <a:pt x="103078" y="57656"/>
                </a:lnTo>
                <a:cubicBezTo>
                  <a:pt x="103078" y="68610"/>
                  <a:pt x="93791" y="77837"/>
                  <a:pt x="83195" y="77837"/>
                </a:cubicBezTo>
                <a:lnTo>
                  <a:pt x="51405" y="77837"/>
                </a:lnTo>
                <a:cubicBezTo>
                  <a:pt x="42714" y="77837"/>
                  <a:pt x="35510" y="85279"/>
                  <a:pt x="35510" y="94000"/>
                </a:cubicBezTo>
                <a:lnTo>
                  <a:pt x="35510" y="124301"/>
                </a:lnTo>
                <a:cubicBezTo>
                  <a:pt x="35510" y="132933"/>
                  <a:pt x="43011" y="137993"/>
                  <a:pt x="51405" y="140464"/>
                </a:cubicBezTo>
                <a:cubicBezTo>
                  <a:pt x="61466" y="143411"/>
                  <a:pt x="71140" y="143947"/>
                  <a:pt x="83195" y="140464"/>
                </a:cubicBezTo>
                <a:cubicBezTo>
                  <a:pt x="91202" y="138142"/>
                  <a:pt x="99090" y="133469"/>
                  <a:pt x="99090" y="124301"/>
                </a:cubicBezTo>
                <a:lnTo>
                  <a:pt x="99090" y="112187"/>
                </a:lnTo>
                <a:lnTo>
                  <a:pt x="67330" y="112187"/>
                </a:lnTo>
                <a:lnTo>
                  <a:pt x="67330" y="108139"/>
                </a:lnTo>
                <a:lnTo>
                  <a:pt x="115014" y="108139"/>
                </a:lnTo>
                <a:cubicBezTo>
                  <a:pt x="124271" y="108139"/>
                  <a:pt x="127695" y="101679"/>
                  <a:pt x="130909" y="92006"/>
                </a:cubicBezTo>
                <a:cubicBezTo>
                  <a:pt x="134243" y="82034"/>
                  <a:pt x="134094" y="72450"/>
                  <a:pt x="130909" y="59680"/>
                </a:cubicBezTo>
                <a:close/>
                <a:moveTo>
                  <a:pt x="85189" y="132368"/>
                </a:moveTo>
                <a:cubicBezTo>
                  <a:pt x="82924" y="132527"/>
                  <a:pt x="80759" y="131408"/>
                  <a:pt x="79578" y="129468"/>
                </a:cubicBezTo>
                <a:cubicBezTo>
                  <a:pt x="78397" y="127529"/>
                  <a:pt x="78397" y="125092"/>
                  <a:pt x="79578" y="123152"/>
                </a:cubicBezTo>
                <a:cubicBezTo>
                  <a:pt x="80759" y="121213"/>
                  <a:pt x="82924" y="120094"/>
                  <a:pt x="85189" y="120253"/>
                </a:cubicBezTo>
                <a:cubicBezTo>
                  <a:pt x="87455" y="120094"/>
                  <a:pt x="89619" y="121213"/>
                  <a:pt x="90800" y="123152"/>
                </a:cubicBezTo>
                <a:cubicBezTo>
                  <a:pt x="91982" y="125092"/>
                  <a:pt x="91982" y="127529"/>
                  <a:pt x="90800" y="129468"/>
                </a:cubicBezTo>
                <a:cubicBezTo>
                  <a:pt x="89619" y="131408"/>
                  <a:pt x="87455" y="132527"/>
                  <a:pt x="85189" y="132368"/>
                </a:cubicBezTo>
                <a:close/>
                <a:moveTo>
                  <a:pt x="49947" y="73849"/>
                </a:moveTo>
                <a:lnTo>
                  <a:pt x="81736" y="73849"/>
                </a:lnTo>
                <a:cubicBezTo>
                  <a:pt x="90577" y="73849"/>
                  <a:pt x="97631" y="66556"/>
                  <a:pt x="97631" y="57686"/>
                </a:cubicBezTo>
                <a:lnTo>
                  <a:pt x="97631" y="27355"/>
                </a:lnTo>
                <a:cubicBezTo>
                  <a:pt x="97631" y="18723"/>
                  <a:pt x="90368" y="12263"/>
                  <a:pt x="81736" y="10805"/>
                </a:cubicBezTo>
                <a:cubicBezTo>
                  <a:pt x="71080" y="9049"/>
                  <a:pt x="59501" y="9138"/>
                  <a:pt x="49947" y="10835"/>
                </a:cubicBezTo>
                <a:cubicBezTo>
                  <a:pt x="36493" y="13216"/>
                  <a:pt x="34052" y="18187"/>
                  <a:pt x="34052" y="27384"/>
                </a:cubicBezTo>
                <a:lnTo>
                  <a:pt x="34052" y="39499"/>
                </a:lnTo>
                <a:lnTo>
                  <a:pt x="65871" y="39499"/>
                </a:lnTo>
                <a:lnTo>
                  <a:pt x="65871" y="43547"/>
                </a:lnTo>
                <a:lnTo>
                  <a:pt x="22116" y="43547"/>
                </a:lnTo>
                <a:cubicBezTo>
                  <a:pt x="12859" y="43547"/>
                  <a:pt x="4763" y="49113"/>
                  <a:pt x="2232" y="59680"/>
                </a:cubicBezTo>
                <a:cubicBezTo>
                  <a:pt x="-685" y="71795"/>
                  <a:pt x="-804" y="79355"/>
                  <a:pt x="2232" y="92006"/>
                </a:cubicBezTo>
                <a:cubicBezTo>
                  <a:pt x="4495" y="101411"/>
                  <a:pt x="9882" y="108139"/>
                  <a:pt x="19139" y="108139"/>
                </a:cubicBezTo>
                <a:lnTo>
                  <a:pt x="30063" y="108139"/>
                </a:lnTo>
                <a:lnTo>
                  <a:pt x="30063" y="93613"/>
                </a:lnTo>
                <a:cubicBezTo>
                  <a:pt x="30063" y="83106"/>
                  <a:pt x="39142" y="73849"/>
                  <a:pt x="49947" y="73849"/>
                </a:cubicBezTo>
                <a:close/>
                <a:moveTo>
                  <a:pt x="47982" y="19258"/>
                </a:moveTo>
                <a:cubicBezTo>
                  <a:pt x="51334" y="19258"/>
                  <a:pt x="54054" y="21979"/>
                  <a:pt x="54054" y="25331"/>
                </a:cubicBezTo>
                <a:cubicBezTo>
                  <a:pt x="54054" y="28682"/>
                  <a:pt x="51334" y="31403"/>
                  <a:pt x="47982" y="31403"/>
                </a:cubicBezTo>
                <a:cubicBezTo>
                  <a:pt x="44631" y="31403"/>
                  <a:pt x="41910" y="28682"/>
                  <a:pt x="41910" y="25331"/>
                </a:cubicBezTo>
                <a:cubicBezTo>
                  <a:pt x="41910" y="21979"/>
                  <a:pt x="44631" y="19258"/>
                  <a:pt x="47982" y="19258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29" name="Text 27"/>
          <p:cNvSpPr/>
          <p:nvPr/>
        </p:nvSpPr>
        <p:spPr>
          <a:xfrm>
            <a:off x="6903720" y="1737361"/>
            <a:ext cx="2943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Используемые технологии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27470" y="2232659"/>
            <a:ext cx="5181600" cy="1219200"/>
          </a:xfrm>
          <a:custGeom>
            <a:avLst/>
            <a:gdLst/>
            <a:ahLst/>
            <a:cxnLst/>
            <a:rect l="l" t="t" r="r" b="b"/>
            <a:pathLst>
              <a:path w="5181600" h="12192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1143000"/>
                </a:lnTo>
                <a:cubicBezTo>
                  <a:pt x="5181600" y="1185056"/>
                  <a:pt x="5147456" y="1219200"/>
                  <a:pt x="510540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427470" y="223265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2" name="Shape 30"/>
          <p:cNvSpPr/>
          <p:nvPr/>
        </p:nvSpPr>
        <p:spPr>
          <a:xfrm>
            <a:off x="6654879" y="247078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3" name="Text 31"/>
          <p:cNvSpPr/>
          <p:nvPr/>
        </p:nvSpPr>
        <p:spPr>
          <a:xfrm>
            <a:off x="7070407" y="2385059"/>
            <a:ext cx="1666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Python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70407" y="2651759"/>
            <a:ext cx="1647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Язык программирования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98920" y="2918459"/>
            <a:ext cx="49244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Выбран из-за </a:t>
            </a:r>
            <a:r>
              <a:rPr lang="en-US" sz="10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простоты реализации</a:t>
            </a:r>
            <a:r>
              <a:rPr lang="en-US" sz="10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и удобства работы с математическими вычислениями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2230" y="3569969"/>
            <a:ext cx="2541270" cy="922020"/>
          </a:xfrm>
          <a:custGeom>
            <a:avLst/>
            <a:gdLst/>
            <a:ahLst/>
            <a:cxnLst/>
            <a:rect l="l" t="t" r="r" b="b"/>
            <a:pathLst>
              <a:path w="2541270" h="922020">
                <a:moveTo>
                  <a:pt x="76196" y="0"/>
                </a:moveTo>
                <a:lnTo>
                  <a:pt x="2465074" y="0"/>
                </a:lnTo>
                <a:cubicBezTo>
                  <a:pt x="2507156" y="0"/>
                  <a:pt x="2541270" y="34114"/>
                  <a:pt x="2541270" y="76196"/>
                </a:cubicBezTo>
                <a:lnTo>
                  <a:pt x="2541270" y="845824"/>
                </a:lnTo>
                <a:cubicBezTo>
                  <a:pt x="2541270" y="887906"/>
                  <a:pt x="2507156" y="922020"/>
                  <a:pt x="246507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49390" y="37261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38" name="Text 36"/>
          <p:cNvSpPr/>
          <p:nvPr/>
        </p:nvSpPr>
        <p:spPr>
          <a:xfrm>
            <a:off x="6797040" y="368808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30340" y="3992882"/>
            <a:ext cx="2371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Встроенная библиотека для статистических вычислений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71610" y="3569969"/>
            <a:ext cx="2541270" cy="922020"/>
          </a:xfrm>
          <a:custGeom>
            <a:avLst/>
            <a:gdLst/>
            <a:ahLst/>
            <a:cxnLst/>
            <a:rect l="l" t="t" r="r" b="b"/>
            <a:pathLst>
              <a:path w="2541270" h="922020">
                <a:moveTo>
                  <a:pt x="76196" y="0"/>
                </a:moveTo>
                <a:lnTo>
                  <a:pt x="2465074" y="0"/>
                </a:lnTo>
                <a:cubicBezTo>
                  <a:pt x="2507156" y="0"/>
                  <a:pt x="2541270" y="34114"/>
                  <a:pt x="2541270" y="76196"/>
                </a:cubicBezTo>
                <a:lnTo>
                  <a:pt x="2541270" y="845824"/>
                </a:lnTo>
                <a:cubicBezTo>
                  <a:pt x="2541270" y="887906"/>
                  <a:pt x="2507156" y="922020"/>
                  <a:pt x="2465074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08770" y="372618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2" name="Text 40"/>
          <p:cNvSpPr/>
          <p:nvPr/>
        </p:nvSpPr>
        <p:spPr>
          <a:xfrm>
            <a:off x="9456420" y="3688082"/>
            <a:ext cx="781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89720" y="3992882"/>
            <a:ext cx="23717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Библиотека для построения графиков и визуализации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4110" y="4850133"/>
            <a:ext cx="5589270" cy="998220"/>
          </a:xfrm>
          <a:custGeom>
            <a:avLst/>
            <a:gdLst/>
            <a:ahLst/>
            <a:cxnLst/>
            <a:rect l="l" t="t" r="r" b="b"/>
            <a:pathLst>
              <a:path w="5589270" h="998220">
                <a:moveTo>
                  <a:pt x="76204" y="0"/>
                </a:moveTo>
                <a:lnTo>
                  <a:pt x="5513066" y="0"/>
                </a:lnTo>
                <a:cubicBezTo>
                  <a:pt x="5555152" y="0"/>
                  <a:pt x="5589270" y="34118"/>
                  <a:pt x="5589270" y="76204"/>
                </a:cubicBezTo>
                <a:lnTo>
                  <a:pt x="5589270" y="922016"/>
                </a:lnTo>
                <a:cubicBezTo>
                  <a:pt x="5589270" y="964102"/>
                  <a:pt x="5555152" y="998220"/>
                  <a:pt x="5513066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1AC">
              <a:alpha val="10196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89370" y="504444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6" name="Text 44"/>
          <p:cNvSpPr/>
          <p:nvPr/>
        </p:nvSpPr>
        <p:spPr>
          <a:xfrm>
            <a:off x="6617970" y="5006341"/>
            <a:ext cx="5105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Преимущества выбора:</a:t>
            </a: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Python обеспечивает кроссплатформенность, читаемость кода и богатую экосистему библиотек для научных вычислений.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7500" y="647701"/>
            <a:ext cx="11676063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Статистический анализ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965201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Функция statistical_analysis()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3550" y="1571626"/>
            <a:ext cx="6135688" cy="6350"/>
          </a:xfrm>
          <a:custGeom>
            <a:avLst/>
            <a:gdLst/>
            <a:ahLst/>
            <a:cxnLst/>
            <a:rect l="l" t="t" r="r" b="b"/>
            <a:pathLst>
              <a:path w="6135688" h="6350">
                <a:moveTo>
                  <a:pt x="0" y="0"/>
                </a:moveTo>
                <a:lnTo>
                  <a:pt x="6135688" y="0"/>
                </a:lnTo>
                <a:lnTo>
                  <a:pt x="613568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63550" y="1377951"/>
            <a:ext cx="1365250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statistical_analysis.py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6458" y="140166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Shape 9"/>
          <p:cNvSpPr/>
          <p:nvPr/>
        </p:nvSpPr>
        <p:spPr>
          <a:xfrm>
            <a:off x="6393458" y="140166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12" name="Shape 10"/>
          <p:cNvSpPr/>
          <p:nvPr/>
        </p:nvSpPr>
        <p:spPr>
          <a:xfrm>
            <a:off x="6520458" y="140166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5" name="Text 13"/>
          <p:cNvSpPr/>
          <p:nvPr/>
        </p:nvSpPr>
        <p:spPr>
          <a:xfrm>
            <a:off x="6987183" y="1384299"/>
            <a:ext cx="4826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Ключевые операции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93533" y="1701799"/>
            <a:ext cx="4745038" cy="444500"/>
          </a:xfrm>
          <a:custGeom>
            <a:avLst/>
            <a:gdLst/>
            <a:ahLst/>
            <a:cxnLst/>
            <a:rect l="l" t="t" r="r" b="b"/>
            <a:pathLst>
              <a:path w="4745038" h="444500">
                <a:moveTo>
                  <a:pt x="12700" y="0"/>
                </a:moveTo>
                <a:lnTo>
                  <a:pt x="4681536" y="0"/>
                </a:lnTo>
                <a:cubicBezTo>
                  <a:pt x="4716607" y="0"/>
                  <a:pt x="4745038" y="28430"/>
                  <a:pt x="4745038" y="63501"/>
                </a:cubicBezTo>
                <a:lnTo>
                  <a:pt x="4745038" y="380999"/>
                </a:lnTo>
                <a:cubicBezTo>
                  <a:pt x="4745038" y="416070"/>
                  <a:pt x="4716607" y="444500"/>
                  <a:pt x="4681536" y="444500"/>
                </a:cubicBez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993533" y="1701799"/>
            <a:ext cx="12700" cy="444500"/>
          </a:xfrm>
          <a:custGeom>
            <a:avLst/>
            <a:gdLst/>
            <a:ahLst/>
            <a:cxnLst/>
            <a:rect l="l" t="t" r="r" b="b"/>
            <a:pathLst>
              <a:path w="12700" h="444500">
                <a:moveTo>
                  <a:pt x="12700" y="0"/>
                </a:moveTo>
                <a:lnTo>
                  <a:pt x="12700" y="0"/>
                </a:lnTo>
                <a:lnTo>
                  <a:pt x="12700" y="444500"/>
                </a:ln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8" name="Text 16"/>
          <p:cNvSpPr/>
          <p:nvPr/>
        </p:nvSpPr>
        <p:spPr>
          <a:xfrm>
            <a:off x="7063383" y="1765299"/>
            <a:ext cx="10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0638" y="1765299"/>
            <a:ext cx="873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Ввод и парсинг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63383" y="1955799"/>
            <a:ext cx="4659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Преобразование строки в список float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93533" y="2209702"/>
            <a:ext cx="4745038" cy="444500"/>
          </a:xfrm>
          <a:custGeom>
            <a:avLst/>
            <a:gdLst/>
            <a:ahLst/>
            <a:cxnLst/>
            <a:rect l="l" t="t" r="r" b="b"/>
            <a:pathLst>
              <a:path w="4745038" h="444500">
                <a:moveTo>
                  <a:pt x="12700" y="0"/>
                </a:moveTo>
                <a:lnTo>
                  <a:pt x="4681536" y="0"/>
                </a:lnTo>
                <a:cubicBezTo>
                  <a:pt x="4716607" y="0"/>
                  <a:pt x="4745038" y="28430"/>
                  <a:pt x="4745038" y="63501"/>
                </a:cubicBezTo>
                <a:lnTo>
                  <a:pt x="4745038" y="380999"/>
                </a:lnTo>
                <a:cubicBezTo>
                  <a:pt x="4745038" y="416070"/>
                  <a:pt x="4716607" y="444500"/>
                  <a:pt x="4681536" y="444500"/>
                </a:cubicBez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993533" y="2209702"/>
            <a:ext cx="12700" cy="444500"/>
          </a:xfrm>
          <a:custGeom>
            <a:avLst/>
            <a:gdLst/>
            <a:ahLst/>
            <a:cxnLst/>
            <a:rect l="l" t="t" r="r" b="b"/>
            <a:pathLst>
              <a:path w="12700" h="444500">
                <a:moveTo>
                  <a:pt x="12700" y="0"/>
                </a:moveTo>
                <a:lnTo>
                  <a:pt x="12700" y="0"/>
                </a:lnTo>
                <a:lnTo>
                  <a:pt x="12700" y="444500"/>
                </a:ln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3" name="Text 21"/>
          <p:cNvSpPr/>
          <p:nvPr/>
        </p:nvSpPr>
        <p:spPr>
          <a:xfrm>
            <a:off x="7063383" y="2273202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89391" y="2273202"/>
            <a:ext cx="635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Валидация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63383" y="2463702"/>
            <a:ext cx="4659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Проверка минимум 2 чисел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93533" y="2717602"/>
            <a:ext cx="4745038" cy="444500"/>
          </a:xfrm>
          <a:custGeom>
            <a:avLst/>
            <a:gdLst/>
            <a:ahLst/>
            <a:cxnLst/>
            <a:rect l="l" t="t" r="r" b="b"/>
            <a:pathLst>
              <a:path w="4745038" h="444500">
                <a:moveTo>
                  <a:pt x="12700" y="0"/>
                </a:moveTo>
                <a:lnTo>
                  <a:pt x="4681536" y="0"/>
                </a:lnTo>
                <a:cubicBezTo>
                  <a:pt x="4716607" y="0"/>
                  <a:pt x="4745038" y="28430"/>
                  <a:pt x="4745038" y="63501"/>
                </a:cubicBezTo>
                <a:lnTo>
                  <a:pt x="4745038" y="380999"/>
                </a:lnTo>
                <a:cubicBezTo>
                  <a:pt x="4745038" y="416070"/>
                  <a:pt x="4716607" y="444500"/>
                  <a:pt x="4681536" y="444500"/>
                </a:cubicBez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993533" y="2717602"/>
            <a:ext cx="12700" cy="444500"/>
          </a:xfrm>
          <a:custGeom>
            <a:avLst/>
            <a:gdLst/>
            <a:ahLst/>
            <a:cxnLst/>
            <a:rect l="l" t="t" r="r" b="b"/>
            <a:pathLst>
              <a:path w="12700" h="444500">
                <a:moveTo>
                  <a:pt x="12700" y="0"/>
                </a:moveTo>
                <a:lnTo>
                  <a:pt x="12700" y="0"/>
                </a:lnTo>
                <a:lnTo>
                  <a:pt x="12700" y="444500"/>
                </a:ln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8" name="Text 26"/>
          <p:cNvSpPr/>
          <p:nvPr/>
        </p:nvSpPr>
        <p:spPr>
          <a:xfrm>
            <a:off x="7063383" y="2781102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92268" y="2781102"/>
            <a:ext cx="6508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Статистика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63383" y="2971602"/>
            <a:ext cx="4659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 показателей через statistics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93533" y="3225505"/>
            <a:ext cx="4745038" cy="444500"/>
          </a:xfrm>
          <a:custGeom>
            <a:avLst/>
            <a:gdLst/>
            <a:ahLst/>
            <a:cxnLst/>
            <a:rect l="l" t="t" r="r" b="b"/>
            <a:pathLst>
              <a:path w="4745038" h="444500">
                <a:moveTo>
                  <a:pt x="12700" y="0"/>
                </a:moveTo>
                <a:lnTo>
                  <a:pt x="4681536" y="0"/>
                </a:lnTo>
                <a:cubicBezTo>
                  <a:pt x="4716607" y="0"/>
                  <a:pt x="4745038" y="28430"/>
                  <a:pt x="4745038" y="63501"/>
                </a:cubicBezTo>
                <a:lnTo>
                  <a:pt x="4745038" y="380999"/>
                </a:lnTo>
                <a:cubicBezTo>
                  <a:pt x="4745038" y="416070"/>
                  <a:pt x="4716607" y="444500"/>
                  <a:pt x="4681536" y="444500"/>
                </a:cubicBez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993533" y="3225505"/>
            <a:ext cx="12700" cy="444500"/>
          </a:xfrm>
          <a:custGeom>
            <a:avLst/>
            <a:gdLst/>
            <a:ahLst/>
            <a:cxnLst/>
            <a:rect l="l" t="t" r="r" b="b"/>
            <a:pathLst>
              <a:path w="12700" h="444500">
                <a:moveTo>
                  <a:pt x="12700" y="0"/>
                </a:moveTo>
                <a:lnTo>
                  <a:pt x="12700" y="0"/>
                </a:lnTo>
                <a:lnTo>
                  <a:pt x="12700" y="444500"/>
                </a:ln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3" name="Text 31"/>
          <p:cNvSpPr/>
          <p:nvPr/>
        </p:nvSpPr>
        <p:spPr>
          <a:xfrm>
            <a:off x="7063383" y="3289005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92070" y="3289005"/>
            <a:ext cx="682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Сортировка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63383" y="3479505"/>
            <a:ext cx="4659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sorted() по возрастанию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93533" y="3733404"/>
            <a:ext cx="4745038" cy="444500"/>
          </a:xfrm>
          <a:custGeom>
            <a:avLst/>
            <a:gdLst/>
            <a:ahLst/>
            <a:cxnLst/>
            <a:rect l="l" t="t" r="r" b="b"/>
            <a:pathLst>
              <a:path w="4745038" h="444500">
                <a:moveTo>
                  <a:pt x="12700" y="0"/>
                </a:moveTo>
                <a:lnTo>
                  <a:pt x="4681536" y="0"/>
                </a:lnTo>
                <a:cubicBezTo>
                  <a:pt x="4716607" y="0"/>
                  <a:pt x="4745038" y="28430"/>
                  <a:pt x="4745038" y="63501"/>
                </a:cubicBezTo>
                <a:lnTo>
                  <a:pt x="4745038" y="380999"/>
                </a:lnTo>
                <a:cubicBezTo>
                  <a:pt x="4745038" y="416070"/>
                  <a:pt x="4716607" y="444500"/>
                  <a:pt x="4681536" y="444500"/>
                </a:cubicBez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993533" y="3733404"/>
            <a:ext cx="12700" cy="444500"/>
          </a:xfrm>
          <a:custGeom>
            <a:avLst/>
            <a:gdLst/>
            <a:ahLst/>
            <a:cxnLst/>
            <a:rect l="l" t="t" r="r" b="b"/>
            <a:pathLst>
              <a:path w="12700" h="444500">
                <a:moveTo>
                  <a:pt x="12700" y="0"/>
                </a:moveTo>
                <a:lnTo>
                  <a:pt x="12700" y="0"/>
                </a:lnTo>
                <a:lnTo>
                  <a:pt x="12700" y="444500"/>
                </a:ln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8" name="Text 36"/>
          <p:cNvSpPr/>
          <p:nvPr/>
        </p:nvSpPr>
        <p:spPr>
          <a:xfrm>
            <a:off x="7063383" y="3796904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93260" y="3796904"/>
            <a:ext cx="690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Сохранение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63383" y="3987404"/>
            <a:ext cx="4659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Запись в result.txt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93533" y="4241303"/>
            <a:ext cx="4745038" cy="444500"/>
          </a:xfrm>
          <a:custGeom>
            <a:avLst/>
            <a:gdLst/>
            <a:ahLst/>
            <a:cxnLst/>
            <a:rect l="l" t="t" r="r" b="b"/>
            <a:pathLst>
              <a:path w="4745038" h="444500">
                <a:moveTo>
                  <a:pt x="12700" y="0"/>
                </a:moveTo>
                <a:lnTo>
                  <a:pt x="4681536" y="0"/>
                </a:lnTo>
                <a:cubicBezTo>
                  <a:pt x="4716607" y="0"/>
                  <a:pt x="4745038" y="28430"/>
                  <a:pt x="4745038" y="63501"/>
                </a:cubicBezTo>
                <a:lnTo>
                  <a:pt x="4745038" y="380999"/>
                </a:lnTo>
                <a:cubicBezTo>
                  <a:pt x="4745038" y="416070"/>
                  <a:pt x="4716607" y="444500"/>
                  <a:pt x="4681536" y="444500"/>
                </a:cubicBez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6993533" y="4241303"/>
            <a:ext cx="12700" cy="444500"/>
          </a:xfrm>
          <a:custGeom>
            <a:avLst/>
            <a:gdLst/>
            <a:ahLst/>
            <a:cxnLst/>
            <a:rect l="l" t="t" r="r" b="b"/>
            <a:pathLst>
              <a:path w="12700" h="444500">
                <a:moveTo>
                  <a:pt x="12700" y="0"/>
                </a:moveTo>
                <a:lnTo>
                  <a:pt x="12700" y="0"/>
                </a:lnTo>
                <a:lnTo>
                  <a:pt x="12700" y="444500"/>
                </a:lnTo>
                <a:lnTo>
                  <a:pt x="12700" y="444500"/>
                </a:lnTo>
                <a:cubicBezTo>
                  <a:pt x="5691" y="444500"/>
                  <a:pt x="0" y="438809"/>
                  <a:pt x="0" y="431800"/>
                </a:cubicBezTo>
                <a:lnTo>
                  <a:pt x="0" y="12700"/>
                </a:lnTo>
                <a:cubicBezTo>
                  <a:pt x="0" y="5691"/>
                  <a:pt x="5691" y="0"/>
                  <a:pt x="12700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3" name="Text 41"/>
          <p:cNvSpPr/>
          <p:nvPr/>
        </p:nvSpPr>
        <p:spPr>
          <a:xfrm>
            <a:off x="7063383" y="4304803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93756" y="4304803"/>
            <a:ext cx="7937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Визуализация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63383" y="4495303"/>
            <a:ext cx="4659313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plt.hist() гистограмма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57008" y="10457161"/>
            <a:ext cx="5014913" cy="514350"/>
          </a:xfrm>
          <a:custGeom>
            <a:avLst/>
            <a:gdLst/>
            <a:ahLst/>
            <a:cxnLst/>
            <a:rect l="l" t="t" r="r" b="b"/>
            <a:pathLst>
              <a:path w="5014913" h="514350">
                <a:moveTo>
                  <a:pt x="63502" y="0"/>
                </a:moveTo>
                <a:lnTo>
                  <a:pt x="4951411" y="0"/>
                </a:lnTo>
                <a:cubicBezTo>
                  <a:pt x="4986482" y="0"/>
                  <a:pt x="5014913" y="28431"/>
                  <a:pt x="5014913" y="63502"/>
                </a:cubicBezTo>
                <a:lnTo>
                  <a:pt x="5014913" y="450848"/>
                </a:lnTo>
                <a:cubicBezTo>
                  <a:pt x="5014912" y="485919"/>
                  <a:pt x="4986482" y="514350"/>
                  <a:pt x="4951411" y="514350"/>
                </a:cubicBezTo>
                <a:lnTo>
                  <a:pt x="63502" y="514350"/>
                </a:lnTo>
                <a:cubicBezTo>
                  <a:pt x="28431" y="514350"/>
                  <a:pt x="0" y="485919"/>
                  <a:pt x="0" y="450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5E81AC">
              <a:alpha val="10196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85199" y="10587334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8" name="Text 46"/>
          <p:cNvSpPr/>
          <p:nvPr/>
        </p:nvSpPr>
        <p:spPr>
          <a:xfrm>
            <a:off x="7137996" y="10555584"/>
            <a:ext cx="4691063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Обработка ошибок:</a:t>
            </a: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try-except перехватывает ValueError (неверный ввод) и общие исключения.</a:t>
            </a:r>
            <a:endParaRPr lang="en-US" sz="1600" dirty="0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845" y="1701800"/>
            <a:ext cx="4716780" cy="48558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17500" y="647701"/>
            <a:ext cx="11676063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Преобразование систем счисления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965201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Функция convert_base()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3550" y="1571626"/>
            <a:ext cx="6135688" cy="6350"/>
          </a:xfrm>
          <a:custGeom>
            <a:avLst/>
            <a:gdLst/>
            <a:ahLst/>
            <a:cxnLst/>
            <a:rect l="l" t="t" r="r" b="b"/>
            <a:pathLst>
              <a:path w="6135688" h="6350">
                <a:moveTo>
                  <a:pt x="0" y="0"/>
                </a:moveTo>
                <a:lnTo>
                  <a:pt x="6135688" y="0"/>
                </a:lnTo>
                <a:lnTo>
                  <a:pt x="6135688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63550" y="1377951"/>
            <a:ext cx="904875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convert_base.py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6458" y="140166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Shape 9"/>
          <p:cNvSpPr/>
          <p:nvPr/>
        </p:nvSpPr>
        <p:spPr>
          <a:xfrm>
            <a:off x="6393458" y="140166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12" name="Shape 10"/>
          <p:cNvSpPr/>
          <p:nvPr/>
        </p:nvSpPr>
        <p:spPr>
          <a:xfrm>
            <a:off x="6520458" y="1401663"/>
            <a:ext cx="79375" cy="79375"/>
          </a:xfrm>
          <a:custGeom>
            <a:avLst/>
            <a:gdLst/>
            <a:ahLst/>
            <a:cxnLst/>
            <a:rect l="l" t="t" r="r" b="b"/>
            <a:pathLst>
              <a:path w="79375" h="79375">
                <a:moveTo>
                  <a:pt x="39688" y="0"/>
                </a:moveTo>
                <a:lnTo>
                  <a:pt x="39688" y="0"/>
                </a:lnTo>
                <a:cubicBezTo>
                  <a:pt x="61592" y="0"/>
                  <a:pt x="79375" y="17783"/>
                  <a:pt x="79375" y="39688"/>
                </a:cubicBezTo>
                <a:lnTo>
                  <a:pt x="79375" y="39688"/>
                </a:lnTo>
                <a:cubicBezTo>
                  <a:pt x="79375" y="61592"/>
                  <a:pt x="61592" y="79375"/>
                  <a:pt x="3968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4" name="Shape 12"/>
          <p:cNvSpPr/>
          <p:nvPr/>
        </p:nvSpPr>
        <p:spPr>
          <a:xfrm>
            <a:off x="6857008" y="1254126"/>
            <a:ext cx="5014913" cy="2419350"/>
          </a:xfrm>
          <a:custGeom>
            <a:avLst/>
            <a:gdLst/>
            <a:ahLst/>
            <a:cxnLst/>
            <a:rect l="l" t="t" r="r" b="b"/>
            <a:pathLst>
              <a:path w="5014913" h="2419350">
                <a:moveTo>
                  <a:pt x="95250" y="0"/>
                </a:moveTo>
                <a:lnTo>
                  <a:pt x="4919663" y="0"/>
                </a:lnTo>
                <a:cubicBezTo>
                  <a:pt x="4972268" y="0"/>
                  <a:pt x="5014913" y="42645"/>
                  <a:pt x="5014913" y="95250"/>
                </a:cubicBezTo>
                <a:lnTo>
                  <a:pt x="5014913" y="2324100"/>
                </a:lnTo>
                <a:cubicBezTo>
                  <a:pt x="5014913" y="2376705"/>
                  <a:pt x="4972268" y="2419350"/>
                  <a:pt x="4919663" y="2419350"/>
                </a:cubicBezTo>
                <a:lnTo>
                  <a:pt x="95250" y="2419350"/>
                </a:lnTo>
                <a:cubicBezTo>
                  <a:pt x="42645" y="2419350"/>
                  <a:pt x="0" y="2376705"/>
                  <a:pt x="0" y="23241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7183" y="1384299"/>
            <a:ext cx="4826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Алгоритм преобразования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87183" y="1701799"/>
            <a:ext cx="4754563" cy="889000"/>
          </a:xfrm>
          <a:custGeom>
            <a:avLst/>
            <a:gdLst/>
            <a:ahLst/>
            <a:cxnLst/>
            <a:rect l="l" t="t" r="r" b="b"/>
            <a:pathLst>
              <a:path w="4754563" h="889000">
                <a:moveTo>
                  <a:pt x="63501" y="0"/>
                </a:moveTo>
                <a:lnTo>
                  <a:pt x="4691061" y="0"/>
                </a:lnTo>
                <a:cubicBezTo>
                  <a:pt x="4726132" y="0"/>
                  <a:pt x="4754563" y="28430"/>
                  <a:pt x="4754563" y="63501"/>
                </a:cubicBezTo>
                <a:lnTo>
                  <a:pt x="4754563" y="825499"/>
                </a:lnTo>
                <a:cubicBezTo>
                  <a:pt x="4754563" y="860570"/>
                  <a:pt x="4726132" y="889000"/>
                  <a:pt x="4691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082433" y="179704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8" name="Text 16"/>
          <p:cNvSpPr/>
          <p:nvPr/>
        </p:nvSpPr>
        <p:spPr>
          <a:xfrm>
            <a:off x="7058621" y="1797049"/>
            <a:ext cx="23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36433" y="1812924"/>
            <a:ext cx="1150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Шаг 1: В десятичную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2433" y="2051049"/>
            <a:ext cx="4611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int(value, 2) - из двоичной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2433" y="2209702"/>
            <a:ext cx="4611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int(value) - из десятичной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2433" y="2368352"/>
            <a:ext cx="4611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int(value, 16) - из шестнадцатеричной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87183" y="2654005"/>
            <a:ext cx="4754563" cy="889000"/>
          </a:xfrm>
          <a:custGeom>
            <a:avLst/>
            <a:gdLst/>
            <a:ahLst/>
            <a:cxnLst/>
            <a:rect l="l" t="t" r="r" b="b"/>
            <a:pathLst>
              <a:path w="4754563" h="889000">
                <a:moveTo>
                  <a:pt x="63501" y="0"/>
                </a:moveTo>
                <a:lnTo>
                  <a:pt x="4691061" y="0"/>
                </a:lnTo>
                <a:cubicBezTo>
                  <a:pt x="4726132" y="0"/>
                  <a:pt x="4754563" y="28430"/>
                  <a:pt x="4754563" y="63501"/>
                </a:cubicBezTo>
                <a:lnTo>
                  <a:pt x="4754563" y="825499"/>
                </a:lnTo>
                <a:cubicBezTo>
                  <a:pt x="4754563" y="860570"/>
                  <a:pt x="4726132" y="889000"/>
                  <a:pt x="4691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7082433" y="274925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1751" y="0"/>
                </a:moveTo>
                <a:lnTo>
                  <a:pt x="158749" y="0"/>
                </a:lnTo>
                <a:cubicBezTo>
                  <a:pt x="176273" y="0"/>
                  <a:pt x="190500" y="14227"/>
                  <a:pt x="190500" y="31751"/>
                </a:cubicBezTo>
                <a:lnTo>
                  <a:pt x="190500" y="158749"/>
                </a:lnTo>
                <a:cubicBezTo>
                  <a:pt x="190500" y="176273"/>
                  <a:pt x="176273" y="190500"/>
                  <a:pt x="158749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5" name="Text 23"/>
          <p:cNvSpPr/>
          <p:nvPr/>
        </p:nvSpPr>
        <p:spPr>
          <a:xfrm>
            <a:off x="7058621" y="2749255"/>
            <a:ext cx="238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36433" y="2765130"/>
            <a:ext cx="1214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Шаг 2: Из десятичной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2433" y="3003255"/>
            <a:ext cx="4611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bin(decimal)[2:] - в двоичную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2433" y="3161904"/>
            <a:ext cx="4611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str(decimal) - в десятичную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2433" y="3320553"/>
            <a:ext cx="4611688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• hex(decimal)[2:].upper() - в шестнадцатеричную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6730" y="3774440"/>
            <a:ext cx="5015230" cy="2412365"/>
          </a:xfrm>
          <a:custGeom>
            <a:avLst/>
            <a:gdLst/>
            <a:ahLst/>
            <a:cxnLst/>
            <a:rect l="l" t="t" r="r" b="b"/>
            <a:pathLst>
              <a:path w="5014913" h="6054725">
                <a:moveTo>
                  <a:pt x="95233" y="0"/>
                </a:moveTo>
                <a:lnTo>
                  <a:pt x="4919679" y="0"/>
                </a:lnTo>
                <a:cubicBezTo>
                  <a:pt x="4972275" y="0"/>
                  <a:pt x="5014913" y="42637"/>
                  <a:pt x="5014913" y="95233"/>
                </a:cubicBezTo>
                <a:lnTo>
                  <a:pt x="5014913" y="5959492"/>
                </a:lnTo>
                <a:cubicBezTo>
                  <a:pt x="5014913" y="6012088"/>
                  <a:pt x="4972275" y="6054725"/>
                  <a:pt x="4919679" y="6054725"/>
                </a:cubicBezTo>
                <a:lnTo>
                  <a:pt x="95233" y="6054725"/>
                </a:lnTo>
                <a:cubicBezTo>
                  <a:pt x="42637" y="6054725"/>
                  <a:pt x="0" y="6012088"/>
                  <a:pt x="0" y="5959492"/>
                </a:cubicBezTo>
                <a:lnTo>
                  <a:pt x="0" y="95233"/>
                </a:lnTo>
                <a:cubicBezTo>
                  <a:pt x="0" y="42673"/>
                  <a:pt x="42673" y="0"/>
                  <a:pt x="9523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7183" y="3904657"/>
            <a:ext cx="4826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Поддерживаемые преобразования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87183" y="4222157"/>
            <a:ext cx="2341563" cy="285750"/>
          </a:xfrm>
          <a:custGeom>
            <a:avLst/>
            <a:gdLst/>
            <a:ahLst/>
            <a:cxnLst/>
            <a:rect l="l" t="t" r="r" b="b"/>
            <a:pathLst>
              <a:path w="2341563" h="285750">
                <a:moveTo>
                  <a:pt x="31750" y="0"/>
                </a:moveTo>
                <a:lnTo>
                  <a:pt x="2309813" y="0"/>
                </a:lnTo>
                <a:cubicBezTo>
                  <a:pt x="2327348" y="0"/>
                  <a:pt x="2341563" y="14215"/>
                  <a:pt x="2341563" y="31750"/>
                </a:cubicBezTo>
                <a:lnTo>
                  <a:pt x="2341563" y="254000"/>
                </a:lnTo>
                <a:cubicBezTo>
                  <a:pt x="2341563" y="271535"/>
                  <a:pt x="2327348" y="285750"/>
                  <a:pt x="230981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959402" y="4222157"/>
            <a:ext cx="2397125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 → 10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95917" y="4222157"/>
            <a:ext cx="2341563" cy="285750"/>
          </a:xfrm>
          <a:custGeom>
            <a:avLst/>
            <a:gdLst/>
            <a:ahLst/>
            <a:cxnLst/>
            <a:rect l="l" t="t" r="r" b="b"/>
            <a:pathLst>
              <a:path w="2341563" h="285750">
                <a:moveTo>
                  <a:pt x="31750" y="0"/>
                </a:moveTo>
                <a:lnTo>
                  <a:pt x="2309813" y="0"/>
                </a:lnTo>
                <a:cubicBezTo>
                  <a:pt x="2327348" y="0"/>
                  <a:pt x="2341563" y="14215"/>
                  <a:pt x="2341563" y="31750"/>
                </a:cubicBezTo>
                <a:lnTo>
                  <a:pt x="2341563" y="254000"/>
                </a:lnTo>
                <a:cubicBezTo>
                  <a:pt x="2341563" y="271535"/>
                  <a:pt x="2327348" y="285750"/>
                  <a:pt x="230981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9368136" y="4222157"/>
            <a:ext cx="2397125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 → 16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87183" y="4571407"/>
            <a:ext cx="2341563" cy="285750"/>
          </a:xfrm>
          <a:custGeom>
            <a:avLst/>
            <a:gdLst/>
            <a:ahLst/>
            <a:cxnLst/>
            <a:rect l="l" t="t" r="r" b="b"/>
            <a:pathLst>
              <a:path w="2341563" h="285750">
                <a:moveTo>
                  <a:pt x="31750" y="0"/>
                </a:moveTo>
                <a:lnTo>
                  <a:pt x="2309813" y="0"/>
                </a:lnTo>
                <a:cubicBezTo>
                  <a:pt x="2327348" y="0"/>
                  <a:pt x="2341563" y="14215"/>
                  <a:pt x="2341563" y="31750"/>
                </a:cubicBezTo>
                <a:lnTo>
                  <a:pt x="2341563" y="254000"/>
                </a:lnTo>
                <a:cubicBezTo>
                  <a:pt x="2341563" y="271535"/>
                  <a:pt x="2327348" y="285750"/>
                  <a:pt x="230981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959402" y="4571407"/>
            <a:ext cx="2397125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 → 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95917" y="4571407"/>
            <a:ext cx="2341563" cy="285750"/>
          </a:xfrm>
          <a:custGeom>
            <a:avLst/>
            <a:gdLst/>
            <a:ahLst/>
            <a:cxnLst/>
            <a:rect l="l" t="t" r="r" b="b"/>
            <a:pathLst>
              <a:path w="2341563" h="285750">
                <a:moveTo>
                  <a:pt x="31750" y="0"/>
                </a:moveTo>
                <a:lnTo>
                  <a:pt x="2309813" y="0"/>
                </a:lnTo>
                <a:cubicBezTo>
                  <a:pt x="2327348" y="0"/>
                  <a:pt x="2341563" y="14215"/>
                  <a:pt x="2341563" y="31750"/>
                </a:cubicBezTo>
                <a:lnTo>
                  <a:pt x="2341563" y="254000"/>
                </a:lnTo>
                <a:cubicBezTo>
                  <a:pt x="2341563" y="271535"/>
                  <a:pt x="2327348" y="285750"/>
                  <a:pt x="230981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9368136" y="4571407"/>
            <a:ext cx="2397125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 → 16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87183" y="4920657"/>
            <a:ext cx="2341563" cy="285750"/>
          </a:xfrm>
          <a:custGeom>
            <a:avLst/>
            <a:gdLst/>
            <a:ahLst/>
            <a:cxnLst/>
            <a:rect l="l" t="t" r="r" b="b"/>
            <a:pathLst>
              <a:path w="2341563" h="285750">
                <a:moveTo>
                  <a:pt x="31750" y="0"/>
                </a:moveTo>
                <a:lnTo>
                  <a:pt x="2309813" y="0"/>
                </a:lnTo>
                <a:cubicBezTo>
                  <a:pt x="2327348" y="0"/>
                  <a:pt x="2341563" y="14215"/>
                  <a:pt x="2341563" y="31750"/>
                </a:cubicBezTo>
                <a:lnTo>
                  <a:pt x="2341563" y="254000"/>
                </a:lnTo>
                <a:cubicBezTo>
                  <a:pt x="2341563" y="271535"/>
                  <a:pt x="2327348" y="285750"/>
                  <a:pt x="230981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959402" y="4920657"/>
            <a:ext cx="2397125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16 → 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95917" y="4920657"/>
            <a:ext cx="2341563" cy="285750"/>
          </a:xfrm>
          <a:custGeom>
            <a:avLst/>
            <a:gdLst/>
            <a:ahLst/>
            <a:cxnLst/>
            <a:rect l="l" t="t" r="r" b="b"/>
            <a:pathLst>
              <a:path w="2341563" h="285750">
                <a:moveTo>
                  <a:pt x="31750" y="0"/>
                </a:moveTo>
                <a:lnTo>
                  <a:pt x="2309813" y="0"/>
                </a:lnTo>
                <a:cubicBezTo>
                  <a:pt x="2327348" y="0"/>
                  <a:pt x="2341563" y="14215"/>
                  <a:pt x="2341563" y="31750"/>
                </a:cubicBezTo>
                <a:lnTo>
                  <a:pt x="2341563" y="254000"/>
                </a:lnTo>
                <a:cubicBezTo>
                  <a:pt x="2341563" y="271535"/>
                  <a:pt x="2327348" y="285750"/>
                  <a:pt x="2309813" y="285750"/>
                </a:cubicBezTo>
                <a:lnTo>
                  <a:pt x="31750" y="285750"/>
                </a:lnTo>
                <a:cubicBezTo>
                  <a:pt x="14215" y="285750"/>
                  <a:pt x="0" y="271535"/>
                  <a:pt x="0" y="254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3" name="Text 41"/>
          <p:cNvSpPr/>
          <p:nvPr/>
        </p:nvSpPr>
        <p:spPr>
          <a:xfrm>
            <a:off x="9368136" y="4920657"/>
            <a:ext cx="2397125" cy="28575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16 → 10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990358" y="5304832"/>
            <a:ext cx="4745038" cy="260350"/>
          </a:xfrm>
          <a:custGeom>
            <a:avLst/>
            <a:gdLst/>
            <a:ahLst/>
            <a:cxnLst/>
            <a:rect l="l" t="t" r="r" b="b"/>
            <a:pathLst>
              <a:path w="4745038" h="260350">
                <a:moveTo>
                  <a:pt x="31750" y="0"/>
                </a:moveTo>
                <a:lnTo>
                  <a:pt x="4713288" y="0"/>
                </a:lnTo>
                <a:cubicBezTo>
                  <a:pt x="4730823" y="0"/>
                  <a:pt x="4745038" y="14215"/>
                  <a:pt x="4745038" y="31750"/>
                </a:cubicBezTo>
                <a:lnTo>
                  <a:pt x="4745038" y="228600"/>
                </a:lnTo>
                <a:cubicBezTo>
                  <a:pt x="4745038" y="246135"/>
                  <a:pt x="4730823" y="260350"/>
                  <a:pt x="4713288" y="260350"/>
                </a:cubicBezTo>
                <a:lnTo>
                  <a:pt x="31750" y="260350"/>
                </a:lnTo>
                <a:cubicBezTo>
                  <a:pt x="14215" y="260350"/>
                  <a:pt x="0" y="246135"/>
                  <a:pt x="0" y="2286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E81AC">
              <a:alpha val="10196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68939" y="5396907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95250"/>
                </a:moveTo>
                <a:cubicBezTo>
                  <a:pt x="73910" y="95250"/>
                  <a:pt x="95250" y="73910"/>
                  <a:pt x="95250" y="47625"/>
                </a:cubicBezTo>
                <a:cubicBezTo>
                  <a:pt x="95250" y="21340"/>
                  <a:pt x="73910" y="0"/>
                  <a:pt x="47625" y="0"/>
                </a:cubicBezTo>
                <a:cubicBezTo>
                  <a:pt x="21340" y="0"/>
                  <a:pt x="0" y="21340"/>
                  <a:pt x="0" y="47625"/>
                </a:cubicBezTo>
                <a:cubicBezTo>
                  <a:pt x="0" y="73910"/>
                  <a:pt x="21340" y="95250"/>
                  <a:pt x="47625" y="95250"/>
                </a:cubicBezTo>
                <a:close/>
                <a:moveTo>
                  <a:pt x="41672" y="29766"/>
                </a:moveTo>
                <a:cubicBezTo>
                  <a:pt x="41672" y="26480"/>
                  <a:pt x="44339" y="23812"/>
                  <a:pt x="47625" y="23812"/>
                </a:cubicBezTo>
                <a:cubicBezTo>
                  <a:pt x="50911" y="23812"/>
                  <a:pt x="53578" y="26480"/>
                  <a:pt x="53578" y="29766"/>
                </a:cubicBezTo>
                <a:cubicBezTo>
                  <a:pt x="53578" y="33051"/>
                  <a:pt x="50911" y="35719"/>
                  <a:pt x="47625" y="35719"/>
                </a:cubicBezTo>
                <a:cubicBezTo>
                  <a:pt x="44339" y="35719"/>
                  <a:pt x="41672" y="33051"/>
                  <a:pt x="41672" y="29766"/>
                </a:cubicBezTo>
                <a:close/>
                <a:moveTo>
                  <a:pt x="40184" y="41672"/>
                </a:moveTo>
                <a:lnTo>
                  <a:pt x="49113" y="41672"/>
                </a:lnTo>
                <a:cubicBezTo>
                  <a:pt x="51588" y="41672"/>
                  <a:pt x="53578" y="43662"/>
                  <a:pt x="53578" y="46137"/>
                </a:cubicBezTo>
                <a:lnTo>
                  <a:pt x="53578" y="62508"/>
                </a:lnTo>
                <a:lnTo>
                  <a:pt x="55066" y="62508"/>
                </a:lnTo>
                <a:cubicBezTo>
                  <a:pt x="57541" y="62508"/>
                  <a:pt x="59531" y="64498"/>
                  <a:pt x="59531" y="66973"/>
                </a:cubicBezTo>
                <a:cubicBezTo>
                  <a:pt x="59531" y="69447"/>
                  <a:pt x="57541" y="71438"/>
                  <a:pt x="55066" y="71438"/>
                </a:cubicBezTo>
                <a:lnTo>
                  <a:pt x="40184" y="71438"/>
                </a:lnTo>
                <a:cubicBezTo>
                  <a:pt x="37709" y="71438"/>
                  <a:pt x="35719" y="69447"/>
                  <a:pt x="35719" y="66973"/>
                </a:cubicBezTo>
                <a:cubicBezTo>
                  <a:pt x="35719" y="64498"/>
                  <a:pt x="37709" y="62508"/>
                  <a:pt x="40184" y="62508"/>
                </a:cubicBezTo>
                <a:lnTo>
                  <a:pt x="44648" y="62508"/>
                </a:lnTo>
                <a:lnTo>
                  <a:pt x="44648" y="50602"/>
                </a:lnTo>
                <a:lnTo>
                  <a:pt x="40184" y="50602"/>
                </a:lnTo>
                <a:cubicBezTo>
                  <a:pt x="37709" y="50602"/>
                  <a:pt x="35719" y="48611"/>
                  <a:pt x="35719" y="46137"/>
                </a:cubicBezTo>
                <a:cubicBezTo>
                  <a:pt x="35719" y="43662"/>
                  <a:pt x="37709" y="41672"/>
                  <a:pt x="40184" y="41672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6" name="Text 44"/>
          <p:cNvSpPr/>
          <p:nvPr/>
        </p:nvSpPr>
        <p:spPr>
          <a:xfrm>
            <a:off x="7195939" y="5371505"/>
            <a:ext cx="4520406" cy="127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Режим "a" - дозапись в файл</a:t>
            </a:r>
            <a:endParaRPr lang="en-US" sz="1600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" y="1701800"/>
            <a:ext cx="6624955" cy="4152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5382" y="704581"/>
            <a:ext cx="11630754" cy="3108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Главное меню и архитектура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5382" y="1049963"/>
            <a:ext cx="11570312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Функция main() и структура приложения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5744" y="1360808"/>
            <a:ext cx="5821421" cy="5500215"/>
          </a:xfrm>
          <a:custGeom>
            <a:avLst/>
            <a:gdLst/>
            <a:ahLst/>
            <a:cxnLst/>
            <a:rect l="l" t="t" r="r" b="b"/>
            <a:pathLst>
              <a:path w="5821421" h="5500215">
                <a:moveTo>
                  <a:pt x="20723" y="0"/>
                </a:moveTo>
                <a:lnTo>
                  <a:pt x="5717797" y="0"/>
                </a:lnTo>
                <a:cubicBezTo>
                  <a:pt x="5775027" y="0"/>
                  <a:pt x="5821421" y="46394"/>
                  <a:pt x="5821421" y="103624"/>
                </a:cubicBezTo>
                <a:lnTo>
                  <a:pt x="5821421" y="5396591"/>
                </a:lnTo>
                <a:cubicBezTo>
                  <a:pt x="5821421" y="5453821"/>
                  <a:pt x="5775027" y="5500215"/>
                  <a:pt x="5717797" y="5500215"/>
                </a:cubicBezTo>
                <a:lnTo>
                  <a:pt x="20723" y="5500215"/>
                </a:lnTo>
                <a:cubicBezTo>
                  <a:pt x="9278" y="5500215"/>
                  <a:pt x="0" y="5490937"/>
                  <a:pt x="0" y="5479492"/>
                </a:cubicBezTo>
                <a:lnTo>
                  <a:pt x="0" y="20723"/>
                </a:lnTo>
                <a:cubicBezTo>
                  <a:pt x="0" y="9286"/>
                  <a:pt x="9286" y="0"/>
                  <a:pt x="20723" y="0"/>
                </a:cubicBezTo>
                <a:close/>
              </a:path>
            </a:pathLst>
          </a:custGeom>
          <a:solidFill>
            <a:srgbClr val="000000">
              <a:alpha val="4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55744" y="1360808"/>
            <a:ext cx="20723" cy="5500215"/>
          </a:xfrm>
          <a:custGeom>
            <a:avLst/>
            <a:gdLst/>
            <a:ahLst/>
            <a:cxnLst/>
            <a:rect l="l" t="t" r="r" b="b"/>
            <a:pathLst>
              <a:path w="20723" h="5500215">
                <a:moveTo>
                  <a:pt x="20723" y="0"/>
                </a:moveTo>
                <a:lnTo>
                  <a:pt x="20723" y="0"/>
                </a:lnTo>
                <a:lnTo>
                  <a:pt x="20723" y="5500215"/>
                </a:lnTo>
                <a:lnTo>
                  <a:pt x="20723" y="5500215"/>
                </a:lnTo>
                <a:cubicBezTo>
                  <a:pt x="9278" y="5500215"/>
                  <a:pt x="0" y="5490937"/>
                  <a:pt x="0" y="5479492"/>
                </a:cubicBezTo>
                <a:lnTo>
                  <a:pt x="0" y="20723"/>
                </a:lnTo>
                <a:cubicBezTo>
                  <a:pt x="0" y="9278"/>
                  <a:pt x="9278" y="0"/>
                  <a:pt x="20723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504258" y="1709644"/>
            <a:ext cx="5534754" cy="6908"/>
          </a:xfrm>
          <a:custGeom>
            <a:avLst/>
            <a:gdLst/>
            <a:ahLst/>
            <a:cxnLst/>
            <a:rect l="l" t="t" r="r" b="b"/>
            <a:pathLst>
              <a:path w="5534754" h="6908">
                <a:moveTo>
                  <a:pt x="0" y="0"/>
                </a:moveTo>
                <a:lnTo>
                  <a:pt x="5534754" y="0"/>
                </a:lnTo>
                <a:lnTo>
                  <a:pt x="5534754" y="6908"/>
                </a:lnTo>
                <a:lnTo>
                  <a:pt x="0" y="6908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04258" y="1498961"/>
            <a:ext cx="483535" cy="1381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5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main.py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72691" y="1524755"/>
            <a:ext cx="86346" cy="86346"/>
          </a:xfrm>
          <a:custGeom>
            <a:avLst/>
            <a:gdLst/>
            <a:ahLst/>
            <a:cxnLst/>
            <a:rect l="l" t="t" r="r" b="b"/>
            <a:pathLst>
              <a:path w="86346" h="86346">
                <a:moveTo>
                  <a:pt x="43173" y="0"/>
                </a:moveTo>
                <a:lnTo>
                  <a:pt x="43173" y="0"/>
                </a:lnTo>
                <a:cubicBezTo>
                  <a:pt x="67001" y="0"/>
                  <a:pt x="86346" y="19345"/>
                  <a:pt x="86346" y="43173"/>
                </a:cubicBezTo>
                <a:lnTo>
                  <a:pt x="86346" y="43173"/>
                </a:lnTo>
                <a:cubicBezTo>
                  <a:pt x="86346" y="67001"/>
                  <a:pt x="67001" y="86346"/>
                  <a:pt x="43173" y="86346"/>
                </a:cubicBezTo>
                <a:lnTo>
                  <a:pt x="43173" y="86346"/>
                </a:lnTo>
                <a:cubicBezTo>
                  <a:pt x="19345" y="86346"/>
                  <a:pt x="0" y="67001"/>
                  <a:pt x="0" y="43173"/>
                </a:cubicBezTo>
                <a:lnTo>
                  <a:pt x="0" y="43173"/>
                </a:lnTo>
                <a:cubicBezTo>
                  <a:pt x="0" y="19345"/>
                  <a:pt x="19345" y="0"/>
                  <a:pt x="43173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1" name="Shape 9"/>
          <p:cNvSpPr/>
          <p:nvPr/>
        </p:nvSpPr>
        <p:spPr>
          <a:xfrm>
            <a:off x="5810844" y="1524755"/>
            <a:ext cx="86346" cy="86346"/>
          </a:xfrm>
          <a:custGeom>
            <a:avLst/>
            <a:gdLst/>
            <a:ahLst/>
            <a:cxnLst/>
            <a:rect l="l" t="t" r="r" b="b"/>
            <a:pathLst>
              <a:path w="86346" h="86346">
                <a:moveTo>
                  <a:pt x="43173" y="0"/>
                </a:moveTo>
                <a:lnTo>
                  <a:pt x="43173" y="0"/>
                </a:lnTo>
                <a:cubicBezTo>
                  <a:pt x="67001" y="0"/>
                  <a:pt x="86346" y="19345"/>
                  <a:pt x="86346" y="43173"/>
                </a:cubicBezTo>
                <a:lnTo>
                  <a:pt x="86346" y="43173"/>
                </a:lnTo>
                <a:cubicBezTo>
                  <a:pt x="86346" y="67001"/>
                  <a:pt x="67001" y="86346"/>
                  <a:pt x="43173" y="86346"/>
                </a:cubicBezTo>
                <a:lnTo>
                  <a:pt x="43173" y="86346"/>
                </a:lnTo>
                <a:cubicBezTo>
                  <a:pt x="19345" y="86346"/>
                  <a:pt x="0" y="67001"/>
                  <a:pt x="0" y="43173"/>
                </a:cubicBezTo>
                <a:lnTo>
                  <a:pt x="0" y="43173"/>
                </a:lnTo>
                <a:cubicBezTo>
                  <a:pt x="0" y="19345"/>
                  <a:pt x="19345" y="0"/>
                  <a:pt x="43173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12" name="Shape 10"/>
          <p:cNvSpPr/>
          <p:nvPr/>
        </p:nvSpPr>
        <p:spPr>
          <a:xfrm>
            <a:off x="5948997" y="1524755"/>
            <a:ext cx="86346" cy="86346"/>
          </a:xfrm>
          <a:custGeom>
            <a:avLst/>
            <a:gdLst/>
            <a:ahLst/>
            <a:cxnLst/>
            <a:rect l="l" t="t" r="r" b="b"/>
            <a:pathLst>
              <a:path w="86346" h="86346">
                <a:moveTo>
                  <a:pt x="43173" y="0"/>
                </a:moveTo>
                <a:lnTo>
                  <a:pt x="43173" y="0"/>
                </a:lnTo>
                <a:cubicBezTo>
                  <a:pt x="67001" y="0"/>
                  <a:pt x="86346" y="19345"/>
                  <a:pt x="86346" y="43173"/>
                </a:cubicBezTo>
                <a:lnTo>
                  <a:pt x="86346" y="43173"/>
                </a:lnTo>
                <a:cubicBezTo>
                  <a:pt x="86346" y="67001"/>
                  <a:pt x="67001" y="86346"/>
                  <a:pt x="43173" y="86346"/>
                </a:cubicBezTo>
                <a:lnTo>
                  <a:pt x="43173" y="86346"/>
                </a:lnTo>
                <a:cubicBezTo>
                  <a:pt x="19345" y="86346"/>
                  <a:pt x="0" y="67001"/>
                  <a:pt x="0" y="43173"/>
                </a:cubicBezTo>
                <a:lnTo>
                  <a:pt x="0" y="43173"/>
                </a:lnTo>
                <a:cubicBezTo>
                  <a:pt x="0" y="19345"/>
                  <a:pt x="19345" y="0"/>
                  <a:pt x="4317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3" name="Text 11"/>
          <p:cNvSpPr/>
          <p:nvPr/>
        </p:nvSpPr>
        <p:spPr>
          <a:xfrm>
            <a:off x="504258" y="1782067"/>
            <a:ext cx="5595195" cy="3928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def</a:t>
            </a: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main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():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</a:t>
            </a: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whileTrue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print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"\n========== Меню =========="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print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"1. Статистический анализ"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print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"2. Перевод систем счисления"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print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"3. Выход"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choice =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input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"Выберите действие (1/2/3): 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choice == 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"1"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statistical_analysis()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elif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choice == 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"2"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convert_base()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</a:t>
            </a: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elif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choice == 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"3"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print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"До свидания!"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</a:t>
            </a: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breakelse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        </a:t>
            </a: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print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(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"Неверный ввод, попробуйте снова."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)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if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__name__ == </a:t>
            </a:r>
            <a:r>
              <a:rPr lang="en-US" sz="950" dirty="0">
                <a:solidFill>
                  <a:srgbClr val="A3BE8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"__main__"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    main()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258" y="5852399"/>
            <a:ext cx="5534754" cy="6908"/>
          </a:xfrm>
          <a:custGeom>
            <a:avLst/>
            <a:gdLst/>
            <a:ahLst/>
            <a:cxnLst/>
            <a:rect l="l" t="t" r="r" b="b"/>
            <a:pathLst>
              <a:path w="5534754" h="6908">
                <a:moveTo>
                  <a:pt x="0" y="0"/>
                </a:moveTo>
                <a:lnTo>
                  <a:pt x="5534754" y="0"/>
                </a:lnTo>
                <a:lnTo>
                  <a:pt x="5534754" y="6908"/>
                </a:lnTo>
                <a:lnTo>
                  <a:pt x="0" y="6908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504258" y="5959466"/>
            <a:ext cx="5595195" cy="690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Описание:Это консольное приложение извлекает числовые данные, вычисляет статистические показатели, выполняет преобразования в числовой системе счисления, строит гистограммы и осуществляет преобразования в числовой системе. Пользователи могут выбрать тип вычисления и выполнять несколько операций подряд.</a:t>
            </a:r>
            <a:endParaRPr lang="en-US" sz="950" b="1" dirty="0">
              <a:solidFill>
                <a:srgbClr val="ECEFF4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15102" y="1364261"/>
            <a:ext cx="5524392" cy="2631814"/>
          </a:xfrm>
          <a:custGeom>
            <a:avLst/>
            <a:gdLst/>
            <a:ahLst/>
            <a:cxnLst/>
            <a:rect l="l" t="t" r="r" b="b"/>
            <a:pathLst>
              <a:path w="5524392" h="2631814">
                <a:moveTo>
                  <a:pt x="103615" y="0"/>
                </a:moveTo>
                <a:lnTo>
                  <a:pt x="5420778" y="0"/>
                </a:lnTo>
                <a:cubicBezTo>
                  <a:pt x="5478002" y="0"/>
                  <a:pt x="5524392" y="46390"/>
                  <a:pt x="5524392" y="103615"/>
                </a:cubicBezTo>
                <a:lnTo>
                  <a:pt x="5524392" y="2528200"/>
                </a:lnTo>
                <a:cubicBezTo>
                  <a:pt x="5524392" y="2585424"/>
                  <a:pt x="5478002" y="2631814"/>
                  <a:pt x="5420778" y="2631814"/>
                </a:cubicBezTo>
                <a:lnTo>
                  <a:pt x="103615" y="2631814"/>
                </a:lnTo>
                <a:cubicBezTo>
                  <a:pt x="46390" y="2631814"/>
                  <a:pt x="0" y="2585424"/>
                  <a:pt x="0" y="2528200"/>
                </a:cubicBezTo>
                <a:lnTo>
                  <a:pt x="0" y="103615"/>
                </a:lnTo>
                <a:cubicBezTo>
                  <a:pt x="0" y="46428"/>
                  <a:pt x="46428" y="0"/>
                  <a:pt x="10361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6709" y="1505867"/>
            <a:ext cx="5318890" cy="241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Архитектура приложения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3978" y="1851249"/>
            <a:ext cx="5223909" cy="621688"/>
          </a:xfrm>
          <a:custGeom>
            <a:avLst/>
            <a:gdLst/>
            <a:ahLst/>
            <a:cxnLst/>
            <a:rect l="l" t="t" r="r" b="b"/>
            <a:pathLst>
              <a:path w="5223909" h="621688">
                <a:moveTo>
                  <a:pt x="34538" y="0"/>
                </a:moveTo>
                <a:lnTo>
                  <a:pt x="5154834" y="0"/>
                </a:lnTo>
                <a:cubicBezTo>
                  <a:pt x="5192983" y="0"/>
                  <a:pt x="5223909" y="30926"/>
                  <a:pt x="5223909" y="69076"/>
                </a:cubicBezTo>
                <a:lnTo>
                  <a:pt x="5223909" y="552613"/>
                </a:lnTo>
                <a:cubicBezTo>
                  <a:pt x="5223909" y="590762"/>
                  <a:pt x="5192983" y="621688"/>
                  <a:pt x="5154834" y="621688"/>
                </a:cubicBez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473978" y="1851249"/>
            <a:ext cx="34538" cy="621688"/>
          </a:xfrm>
          <a:custGeom>
            <a:avLst/>
            <a:gdLst/>
            <a:ahLst/>
            <a:cxnLst/>
            <a:rect l="l" t="t" r="r" b="b"/>
            <a:pathLst>
              <a:path w="34538" h="621688">
                <a:moveTo>
                  <a:pt x="34538" y="0"/>
                </a:moveTo>
                <a:lnTo>
                  <a:pt x="34538" y="0"/>
                </a:lnTo>
                <a:lnTo>
                  <a:pt x="34538" y="621688"/>
                </a:ln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0" name="Shape 18"/>
          <p:cNvSpPr/>
          <p:nvPr/>
        </p:nvSpPr>
        <p:spPr>
          <a:xfrm>
            <a:off x="6612131" y="1989402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2735" y="1403"/>
                </a:moveTo>
                <a:cubicBezTo>
                  <a:pt x="66756" y="-459"/>
                  <a:pt x="71397" y="-459"/>
                  <a:pt x="75417" y="1403"/>
                </a:cubicBezTo>
                <a:lnTo>
                  <a:pt x="134402" y="28656"/>
                </a:lnTo>
                <a:cubicBezTo>
                  <a:pt x="136696" y="29708"/>
                  <a:pt x="138153" y="32002"/>
                  <a:pt x="138153" y="34538"/>
                </a:cubicBezTo>
                <a:cubicBezTo>
                  <a:pt x="138153" y="37075"/>
                  <a:pt x="136696" y="39368"/>
                  <a:pt x="134402" y="40421"/>
                </a:cubicBezTo>
                <a:lnTo>
                  <a:pt x="75417" y="67673"/>
                </a:lnTo>
                <a:cubicBezTo>
                  <a:pt x="71397" y="69535"/>
                  <a:pt x="66756" y="69535"/>
                  <a:pt x="62735" y="67673"/>
                </a:cubicBezTo>
                <a:lnTo>
                  <a:pt x="3751" y="40421"/>
                </a:lnTo>
                <a:cubicBezTo>
                  <a:pt x="1457" y="39341"/>
                  <a:pt x="0" y="37048"/>
                  <a:pt x="0" y="34538"/>
                </a:cubicBezTo>
                <a:cubicBezTo>
                  <a:pt x="0" y="32029"/>
                  <a:pt x="1457" y="29708"/>
                  <a:pt x="3751" y="28656"/>
                </a:cubicBezTo>
                <a:lnTo>
                  <a:pt x="62735" y="1403"/>
                </a:lnTo>
                <a:close/>
                <a:moveTo>
                  <a:pt x="12979" y="58931"/>
                </a:moveTo>
                <a:lnTo>
                  <a:pt x="57312" y="79411"/>
                </a:lnTo>
                <a:cubicBezTo>
                  <a:pt x="64786" y="82865"/>
                  <a:pt x="73394" y="82865"/>
                  <a:pt x="80868" y="79411"/>
                </a:cubicBezTo>
                <a:lnTo>
                  <a:pt x="125201" y="58931"/>
                </a:lnTo>
                <a:lnTo>
                  <a:pt x="134402" y="63194"/>
                </a:lnTo>
                <a:cubicBezTo>
                  <a:pt x="136696" y="64247"/>
                  <a:pt x="138153" y="66540"/>
                  <a:pt x="138153" y="69076"/>
                </a:cubicBezTo>
                <a:cubicBezTo>
                  <a:pt x="138153" y="71613"/>
                  <a:pt x="136696" y="73906"/>
                  <a:pt x="134402" y="74959"/>
                </a:cubicBezTo>
                <a:lnTo>
                  <a:pt x="75417" y="102212"/>
                </a:lnTo>
                <a:cubicBezTo>
                  <a:pt x="71397" y="104073"/>
                  <a:pt x="66756" y="104073"/>
                  <a:pt x="62735" y="102212"/>
                </a:cubicBezTo>
                <a:lnTo>
                  <a:pt x="3751" y="74959"/>
                </a:lnTo>
                <a:cubicBezTo>
                  <a:pt x="1457" y="73879"/>
                  <a:pt x="0" y="71586"/>
                  <a:pt x="0" y="69076"/>
                </a:cubicBezTo>
                <a:cubicBezTo>
                  <a:pt x="0" y="66567"/>
                  <a:pt x="1457" y="64247"/>
                  <a:pt x="3751" y="63194"/>
                </a:cubicBezTo>
                <a:lnTo>
                  <a:pt x="12952" y="58931"/>
                </a:lnTo>
                <a:close/>
                <a:moveTo>
                  <a:pt x="3751" y="97732"/>
                </a:moveTo>
                <a:lnTo>
                  <a:pt x="12952" y="93469"/>
                </a:lnTo>
                <a:lnTo>
                  <a:pt x="57285" y="113949"/>
                </a:lnTo>
                <a:cubicBezTo>
                  <a:pt x="64759" y="117403"/>
                  <a:pt x="73367" y="117403"/>
                  <a:pt x="80841" y="113949"/>
                </a:cubicBezTo>
                <a:lnTo>
                  <a:pt x="125174" y="93469"/>
                </a:lnTo>
                <a:lnTo>
                  <a:pt x="134375" y="97732"/>
                </a:lnTo>
                <a:cubicBezTo>
                  <a:pt x="136669" y="98785"/>
                  <a:pt x="138126" y="101078"/>
                  <a:pt x="138126" y="103615"/>
                </a:cubicBezTo>
                <a:cubicBezTo>
                  <a:pt x="138126" y="106151"/>
                  <a:pt x="136669" y="108445"/>
                  <a:pt x="134375" y="109497"/>
                </a:cubicBezTo>
                <a:lnTo>
                  <a:pt x="75391" y="136750"/>
                </a:lnTo>
                <a:cubicBezTo>
                  <a:pt x="71370" y="138612"/>
                  <a:pt x="66729" y="138612"/>
                  <a:pt x="62708" y="136750"/>
                </a:cubicBezTo>
                <a:lnTo>
                  <a:pt x="3751" y="109497"/>
                </a:lnTo>
                <a:cubicBezTo>
                  <a:pt x="1457" y="108418"/>
                  <a:pt x="0" y="106124"/>
                  <a:pt x="0" y="103615"/>
                </a:cubicBezTo>
                <a:cubicBezTo>
                  <a:pt x="0" y="101105"/>
                  <a:pt x="1457" y="98785"/>
                  <a:pt x="3751" y="97732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1" name="Text 19"/>
          <p:cNvSpPr/>
          <p:nvPr/>
        </p:nvSpPr>
        <p:spPr>
          <a:xfrm>
            <a:off x="6836630" y="1954864"/>
            <a:ext cx="1856431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Модуль statistical_analysis()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94862" y="2196631"/>
            <a:ext cx="5059853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Статистика, сортировка, гистограмма, сохранение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73978" y="2542014"/>
            <a:ext cx="5223909" cy="621688"/>
          </a:xfrm>
          <a:custGeom>
            <a:avLst/>
            <a:gdLst/>
            <a:ahLst/>
            <a:cxnLst/>
            <a:rect l="l" t="t" r="r" b="b"/>
            <a:pathLst>
              <a:path w="5223909" h="621688">
                <a:moveTo>
                  <a:pt x="34538" y="0"/>
                </a:moveTo>
                <a:lnTo>
                  <a:pt x="5154834" y="0"/>
                </a:lnTo>
                <a:cubicBezTo>
                  <a:pt x="5192983" y="0"/>
                  <a:pt x="5223909" y="30926"/>
                  <a:pt x="5223909" y="69076"/>
                </a:cubicBezTo>
                <a:lnTo>
                  <a:pt x="5223909" y="552613"/>
                </a:lnTo>
                <a:cubicBezTo>
                  <a:pt x="5223909" y="590762"/>
                  <a:pt x="5192983" y="621688"/>
                  <a:pt x="5154834" y="621688"/>
                </a:cubicBez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473978" y="2542014"/>
            <a:ext cx="34538" cy="621688"/>
          </a:xfrm>
          <a:custGeom>
            <a:avLst/>
            <a:gdLst/>
            <a:ahLst/>
            <a:cxnLst/>
            <a:rect l="l" t="t" r="r" b="b"/>
            <a:pathLst>
              <a:path w="34538" h="621688">
                <a:moveTo>
                  <a:pt x="34538" y="0"/>
                </a:moveTo>
                <a:lnTo>
                  <a:pt x="34538" y="0"/>
                </a:lnTo>
                <a:lnTo>
                  <a:pt x="34538" y="621688"/>
                </a:ln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5" name="Shape 23"/>
          <p:cNvSpPr/>
          <p:nvPr/>
        </p:nvSpPr>
        <p:spPr>
          <a:xfrm>
            <a:off x="6612131" y="2680167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135617" y="40636"/>
                </a:moveTo>
                <a:lnTo>
                  <a:pt x="109713" y="66540"/>
                </a:lnTo>
                <a:cubicBezTo>
                  <a:pt x="107230" y="69023"/>
                  <a:pt x="103534" y="69751"/>
                  <a:pt x="100296" y="68402"/>
                </a:cubicBezTo>
                <a:cubicBezTo>
                  <a:pt x="97058" y="67053"/>
                  <a:pt x="94980" y="63923"/>
                  <a:pt x="94980" y="60442"/>
                </a:cubicBezTo>
                <a:lnTo>
                  <a:pt x="94980" y="43173"/>
                </a:lnTo>
                <a:lnTo>
                  <a:pt x="8635" y="43173"/>
                </a:lnTo>
                <a:cubicBezTo>
                  <a:pt x="3859" y="43173"/>
                  <a:pt x="0" y="39314"/>
                  <a:pt x="0" y="34538"/>
                </a:cubicBezTo>
                <a:cubicBezTo>
                  <a:pt x="0" y="29762"/>
                  <a:pt x="3859" y="25904"/>
                  <a:pt x="8635" y="25904"/>
                </a:cubicBezTo>
                <a:lnTo>
                  <a:pt x="94980" y="25904"/>
                </a:lnTo>
                <a:lnTo>
                  <a:pt x="94980" y="8635"/>
                </a:lnTo>
                <a:cubicBezTo>
                  <a:pt x="94980" y="5154"/>
                  <a:pt x="97085" y="1997"/>
                  <a:pt x="100323" y="648"/>
                </a:cubicBezTo>
                <a:cubicBezTo>
                  <a:pt x="103561" y="-702"/>
                  <a:pt x="107257" y="54"/>
                  <a:pt x="109740" y="2509"/>
                </a:cubicBezTo>
                <a:lnTo>
                  <a:pt x="135644" y="28413"/>
                </a:lnTo>
                <a:cubicBezTo>
                  <a:pt x="139016" y="31786"/>
                  <a:pt x="139016" y="37264"/>
                  <a:pt x="135644" y="40636"/>
                </a:cubicBezTo>
                <a:close/>
                <a:moveTo>
                  <a:pt x="28413" y="135617"/>
                </a:moveTo>
                <a:lnTo>
                  <a:pt x="2509" y="109713"/>
                </a:lnTo>
                <a:cubicBezTo>
                  <a:pt x="-863" y="106340"/>
                  <a:pt x="-863" y="100862"/>
                  <a:pt x="2509" y="97490"/>
                </a:cubicBezTo>
                <a:lnTo>
                  <a:pt x="28413" y="71586"/>
                </a:lnTo>
                <a:cubicBezTo>
                  <a:pt x="30896" y="69103"/>
                  <a:pt x="34592" y="68375"/>
                  <a:pt x="37830" y="69724"/>
                </a:cubicBezTo>
                <a:cubicBezTo>
                  <a:pt x="41068" y="71073"/>
                  <a:pt x="43173" y="74230"/>
                  <a:pt x="43173" y="77711"/>
                </a:cubicBezTo>
                <a:lnTo>
                  <a:pt x="43173" y="94980"/>
                </a:lnTo>
                <a:lnTo>
                  <a:pt x="129518" y="94980"/>
                </a:lnTo>
                <a:cubicBezTo>
                  <a:pt x="134294" y="94980"/>
                  <a:pt x="138153" y="98839"/>
                  <a:pt x="138153" y="103615"/>
                </a:cubicBezTo>
                <a:cubicBezTo>
                  <a:pt x="138153" y="108391"/>
                  <a:pt x="134294" y="112249"/>
                  <a:pt x="129518" y="112249"/>
                </a:cubicBezTo>
                <a:lnTo>
                  <a:pt x="43173" y="112249"/>
                </a:lnTo>
                <a:lnTo>
                  <a:pt x="43173" y="129518"/>
                </a:lnTo>
                <a:cubicBezTo>
                  <a:pt x="43173" y="132999"/>
                  <a:pt x="41068" y="136156"/>
                  <a:pt x="37830" y="137505"/>
                </a:cubicBezTo>
                <a:cubicBezTo>
                  <a:pt x="34592" y="138855"/>
                  <a:pt x="30896" y="138099"/>
                  <a:pt x="28413" y="135644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6" name="Text 24"/>
          <p:cNvSpPr/>
          <p:nvPr/>
        </p:nvSpPr>
        <p:spPr>
          <a:xfrm>
            <a:off x="6836630" y="2645629"/>
            <a:ext cx="1536952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Модуль convert_base()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94862" y="2887396"/>
            <a:ext cx="5059853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Преобразование 2/10/16, сохранение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73978" y="3232779"/>
            <a:ext cx="5223909" cy="621688"/>
          </a:xfrm>
          <a:custGeom>
            <a:avLst/>
            <a:gdLst/>
            <a:ahLst/>
            <a:cxnLst/>
            <a:rect l="l" t="t" r="r" b="b"/>
            <a:pathLst>
              <a:path w="5223909" h="621688">
                <a:moveTo>
                  <a:pt x="34538" y="0"/>
                </a:moveTo>
                <a:lnTo>
                  <a:pt x="5154834" y="0"/>
                </a:lnTo>
                <a:cubicBezTo>
                  <a:pt x="5192983" y="0"/>
                  <a:pt x="5223909" y="30926"/>
                  <a:pt x="5223909" y="69076"/>
                </a:cubicBezTo>
                <a:lnTo>
                  <a:pt x="5223909" y="552613"/>
                </a:lnTo>
                <a:cubicBezTo>
                  <a:pt x="5223909" y="590762"/>
                  <a:pt x="5192983" y="621688"/>
                  <a:pt x="5154834" y="621688"/>
                </a:cubicBez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6473978" y="3232779"/>
            <a:ext cx="34538" cy="621688"/>
          </a:xfrm>
          <a:custGeom>
            <a:avLst/>
            <a:gdLst/>
            <a:ahLst/>
            <a:cxnLst/>
            <a:rect l="l" t="t" r="r" b="b"/>
            <a:pathLst>
              <a:path w="34538" h="621688">
                <a:moveTo>
                  <a:pt x="34538" y="0"/>
                </a:moveTo>
                <a:lnTo>
                  <a:pt x="34538" y="0"/>
                </a:lnTo>
                <a:lnTo>
                  <a:pt x="34538" y="621688"/>
                </a:lnTo>
                <a:lnTo>
                  <a:pt x="34538" y="621688"/>
                </a:lnTo>
                <a:cubicBezTo>
                  <a:pt x="15463" y="621688"/>
                  <a:pt x="0" y="606225"/>
                  <a:pt x="0" y="587150"/>
                </a:cubicBezTo>
                <a:lnTo>
                  <a:pt x="0" y="34538"/>
                </a:lnTo>
                <a:cubicBezTo>
                  <a:pt x="0" y="15476"/>
                  <a:pt x="15476" y="0"/>
                  <a:pt x="3453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0" name="Shape 28"/>
          <p:cNvSpPr/>
          <p:nvPr/>
        </p:nvSpPr>
        <p:spPr>
          <a:xfrm>
            <a:off x="6612131" y="3370932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51807" y="17269"/>
                </a:moveTo>
                <a:cubicBezTo>
                  <a:pt x="51807" y="12493"/>
                  <a:pt x="55666" y="8635"/>
                  <a:pt x="60442" y="8635"/>
                </a:cubicBezTo>
                <a:lnTo>
                  <a:pt x="77711" y="8635"/>
                </a:lnTo>
                <a:cubicBezTo>
                  <a:pt x="82487" y="8635"/>
                  <a:pt x="86346" y="12493"/>
                  <a:pt x="86346" y="17269"/>
                </a:cubicBezTo>
                <a:lnTo>
                  <a:pt x="86346" y="34538"/>
                </a:lnTo>
                <a:cubicBezTo>
                  <a:pt x="86346" y="39314"/>
                  <a:pt x="82487" y="43173"/>
                  <a:pt x="77711" y="43173"/>
                </a:cubicBezTo>
                <a:lnTo>
                  <a:pt x="75552" y="43173"/>
                </a:lnTo>
                <a:lnTo>
                  <a:pt x="75552" y="60442"/>
                </a:lnTo>
                <a:lnTo>
                  <a:pt x="107932" y="60442"/>
                </a:lnTo>
                <a:cubicBezTo>
                  <a:pt x="118671" y="60442"/>
                  <a:pt x="127360" y="69130"/>
                  <a:pt x="127360" y="79870"/>
                </a:cubicBezTo>
                <a:lnTo>
                  <a:pt x="127360" y="94980"/>
                </a:lnTo>
                <a:lnTo>
                  <a:pt x="129518" y="94980"/>
                </a:lnTo>
                <a:cubicBezTo>
                  <a:pt x="134294" y="94980"/>
                  <a:pt x="138153" y="98839"/>
                  <a:pt x="138153" y="103615"/>
                </a:cubicBezTo>
                <a:lnTo>
                  <a:pt x="138153" y="120884"/>
                </a:lnTo>
                <a:cubicBezTo>
                  <a:pt x="138153" y="125660"/>
                  <a:pt x="134294" y="129518"/>
                  <a:pt x="129518" y="129518"/>
                </a:cubicBezTo>
                <a:lnTo>
                  <a:pt x="112249" y="129518"/>
                </a:lnTo>
                <a:cubicBezTo>
                  <a:pt x="107473" y="129518"/>
                  <a:pt x="103615" y="125660"/>
                  <a:pt x="103615" y="120884"/>
                </a:cubicBezTo>
                <a:lnTo>
                  <a:pt x="103615" y="103615"/>
                </a:lnTo>
                <a:cubicBezTo>
                  <a:pt x="103615" y="98839"/>
                  <a:pt x="107473" y="94980"/>
                  <a:pt x="112249" y="94980"/>
                </a:cubicBezTo>
                <a:lnTo>
                  <a:pt x="114408" y="94980"/>
                </a:lnTo>
                <a:lnTo>
                  <a:pt x="114408" y="79870"/>
                </a:lnTo>
                <a:cubicBezTo>
                  <a:pt x="114408" y="76281"/>
                  <a:pt x="111521" y="73394"/>
                  <a:pt x="107932" y="73394"/>
                </a:cubicBezTo>
                <a:lnTo>
                  <a:pt x="75552" y="73394"/>
                </a:lnTo>
                <a:lnTo>
                  <a:pt x="75552" y="94980"/>
                </a:lnTo>
                <a:lnTo>
                  <a:pt x="77711" y="94980"/>
                </a:lnTo>
                <a:cubicBezTo>
                  <a:pt x="82487" y="94980"/>
                  <a:pt x="86346" y="98839"/>
                  <a:pt x="86346" y="103615"/>
                </a:cubicBezTo>
                <a:lnTo>
                  <a:pt x="86346" y="120884"/>
                </a:lnTo>
                <a:cubicBezTo>
                  <a:pt x="86346" y="125660"/>
                  <a:pt x="82487" y="129518"/>
                  <a:pt x="77711" y="129518"/>
                </a:cubicBezTo>
                <a:lnTo>
                  <a:pt x="60442" y="129518"/>
                </a:lnTo>
                <a:cubicBezTo>
                  <a:pt x="55666" y="129518"/>
                  <a:pt x="51807" y="125660"/>
                  <a:pt x="51807" y="120884"/>
                </a:cubicBezTo>
                <a:lnTo>
                  <a:pt x="51807" y="103615"/>
                </a:lnTo>
                <a:cubicBezTo>
                  <a:pt x="51807" y="98839"/>
                  <a:pt x="55666" y="94980"/>
                  <a:pt x="60442" y="94980"/>
                </a:cubicBezTo>
                <a:lnTo>
                  <a:pt x="62601" y="94980"/>
                </a:lnTo>
                <a:lnTo>
                  <a:pt x="62601" y="73394"/>
                </a:lnTo>
                <a:lnTo>
                  <a:pt x="30221" y="73394"/>
                </a:lnTo>
                <a:cubicBezTo>
                  <a:pt x="26632" y="73394"/>
                  <a:pt x="23745" y="76281"/>
                  <a:pt x="23745" y="79870"/>
                </a:cubicBezTo>
                <a:lnTo>
                  <a:pt x="23745" y="94980"/>
                </a:lnTo>
                <a:lnTo>
                  <a:pt x="25904" y="94980"/>
                </a:lnTo>
                <a:cubicBezTo>
                  <a:pt x="30680" y="94980"/>
                  <a:pt x="34538" y="98839"/>
                  <a:pt x="34538" y="103615"/>
                </a:cubicBezTo>
                <a:lnTo>
                  <a:pt x="34538" y="120884"/>
                </a:lnTo>
                <a:cubicBezTo>
                  <a:pt x="34538" y="125660"/>
                  <a:pt x="30680" y="129518"/>
                  <a:pt x="25904" y="129518"/>
                </a:cubicBezTo>
                <a:lnTo>
                  <a:pt x="8635" y="129518"/>
                </a:lnTo>
                <a:cubicBezTo>
                  <a:pt x="3859" y="129518"/>
                  <a:pt x="0" y="125660"/>
                  <a:pt x="0" y="120884"/>
                </a:cubicBezTo>
                <a:lnTo>
                  <a:pt x="0" y="103615"/>
                </a:lnTo>
                <a:cubicBezTo>
                  <a:pt x="0" y="98839"/>
                  <a:pt x="3859" y="94980"/>
                  <a:pt x="8635" y="94980"/>
                </a:cubicBezTo>
                <a:lnTo>
                  <a:pt x="10793" y="94980"/>
                </a:lnTo>
                <a:lnTo>
                  <a:pt x="10793" y="79870"/>
                </a:lnTo>
                <a:cubicBezTo>
                  <a:pt x="10793" y="69130"/>
                  <a:pt x="19482" y="60442"/>
                  <a:pt x="30221" y="60442"/>
                </a:cubicBezTo>
                <a:lnTo>
                  <a:pt x="62601" y="60442"/>
                </a:lnTo>
                <a:lnTo>
                  <a:pt x="62601" y="43173"/>
                </a:lnTo>
                <a:lnTo>
                  <a:pt x="60442" y="43173"/>
                </a:lnTo>
                <a:cubicBezTo>
                  <a:pt x="55666" y="43173"/>
                  <a:pt x="51807" y="39314"/>
                  <a:pt x="51807" y="34538"/>
                </a:cubicBezTo>
                <a:lnTo>
                  <a:pt x="51807" y="17269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31" name="Text 29"/>
          <p:cNvSpPr/>
          <p:nvPr/>
        </p:nvSpPr>
        <p:spPr>
          <a:xfrm>
            <a:off x="6836630" y="3336393"/>
            <a:ext cx="1010244" cy="2072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Модуль main()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94862" y="3578161"/>
            <a:ext cx="5059853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Главное меню, цикл, вызов функций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15102" y="4106599"/>
            <a:ext cx="5524392" cy="2744063"/>
          </a:xfrm>
          <a:custGeom>
            <a:avLst/>
            <a:gdLst/>
            <a:ahLst/>
            <a:cxnLst/>
            <a:rect l="l" t="t" r="r" b="b"/>
            <a:pathLst>
              <a:path w="5524392" h="2744063">
                <a:moveTo>
                  <a:pt x="103616" y="0"/>
                </a:moveTo>
                <a:lnTo>
                  <a:pt x="5420776" y="0"/>
                </a:lnTo>
                <a:cubicBezTo>
                  <a:pt x="5478002" y="0"/>
                  <a:pt x="5524392" y="46390"/>
                  <a:pt x="5524392" y="103616"/>
                </a:cubicBezTo>
                <a:lnTo>
                  <a:pt x="5524392" y="2640448"/>
                </a:lnTo>
                <a:cubicBezTo>
                  <a:pt x="5524392" y="2697673"/>
                  <a:pt x="5478002" y="2744063"/>
                  <a:pt x="5420776" y="2744063"/>
                </a:cubicBezTo>
                <a:lnTo>
                  <a:pt x="103616" y="2744063"/>
                </a:lnTo>
                <a:cubicBezTo>
                  <a:pt x="46390" y="2744063"/>
                  <a:pt x="0" y="2697673"/>
                  <a:pt x="0" y="2640448"/>
                </a:cubicBezTo>
                <a:lnTo>
                  <a:pt x="0" y="103616"/>
                </a:lnTo>
                <a:cubicBezTo>
                  <a:pt x="0" y="46429"/>
                  <a:pt x="46429" y="0"/>
                  <a:pt x="10361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6709" y="4248204"/>
            <a:ext cx="5318890" cy="241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Ключевые особенности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3978" y="4628125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6" name="Text 34"/>
          <p:cNvSpPr/>
          <p:nvPr/>
        </p:nvSpPr>
        <p:spPr>
          <a:xfrm>
            <a:off x="6698477" y="4593586"/>
            <a:ext cx="5059853" cy="3453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Циклическое меню: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while True позволяет выполнять множество операций без перезапуска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73978" y="5042584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8" name="Text 36"/>
          <p:cNvSpPr/>
          <p:nvPr/>
        </p:nvSpPr>
        <p:spPr>
          <a:xfrm>
            <a:off x="6698477" y="5008045"/>
            <a:ext cx="3514266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Гибкость: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переключение между режимами в любой момент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73978" y="5284351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0" name="Text 38"/>
          <p:cNvSpPr/>
          <p:nvPr/>
        </p:nvSpPr>
        <p:spPr>
          <a:xfrm>
            <a:off x="6698477" y="5249813"/>
            <a:ext cx="4092782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Корректный выход: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break при выборе "3" с прощальным сообщением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73978" y="5526119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2" name="Text 40"/>
          <p:cNvSpPr/>
          <p:nvPr/>
        </p:nvSpPr>
        <p:spPr>
          <a:xfrm>
            <a:off x="6698477" y="5491581"/>
            <a:ext cx="3186153" cy="1726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Валидация: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проверка ввода с сообщением об ошибке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73978" y="5767887"/>
            <a:ext cx="138153" cy="138153"/>
          </a:xfrm>
          <a:custGeom>
            <a:avLst/>
            <a:gdLst/>
            <a:ahLst/>
            <a:cxnLst/>
            <a:rect l="l" t="t" r="r" b="b"/>
            <a:pathLst>
              <a:path w="138153" h="138153">
                <a:moveTo>
                  <a:pt x="69076" y="138153"/>
                </a:moveTo>
                <a:cubicBezTo>
                  <a:pt x="107201" y="138153"/>
                  <a:pt x="138153" y="107201"/>
                  <a:pt x="138153" y="69076"/>
                </a:cubicBezTo>
                <a:cubicBezTo>
                  <a:pt x="138153" y="30952"/>
                  <a:pt x="107201" y="0"/>
                  <a:pt x="69076" y="0"/>
                </a:cubicBezTo>
                <a:cubicBezTo>
                  <a:pt x="30952" y="0"/>
                  <a:pt x="0" y="30952"/>
                  <a:pt x="0" y="69076"/>
                </a:cubicBezTo>
                <a:cubicBezTo>
                  <a:pt x="0" y="107201"/>
                  <a:pt x="30952" y="138153"/>
                  <a:pt x="69076" y="138153"/>
                </a:cubicBezTo>
                <a:close/>
                <a:moveTo>
                  <a:pt x="91850" y="57393"/>
                </a:moveTo>
                <a:lnTo>
                  <a:pt x="70264" y="91931"/>
                </a:lnTo>
                <a:cubicBezTo>
                  <a:pt x="69130" y="93739"/>
                  <a:pt x="67188" y="94872"/>
                  <a:pt x="65056" y="94980"/>
                </a:cubicBezTo>
                <a:cubicBezTo>
                  <a:pt x="62924" y="95088"/>
                  <a:pt x="60874" y="94117"/>
                  <a:pt x="59605" y="92390"/>
                </a:cubicBezTo>
                <a:lnTo>
                  <a:pt x="46654" y="75121"/>
                </a:lnTo>
                <a:cubicBezTo>
                  <a:pt x="44495" y="72260"/>
                  <a:pt x="45089" y="68213"/>
                  <a:pt x="47949" y="66054"/>
                </a:cubicBezTo>
                <a:cubicBezTo>
                  <a:pt x="50809" y="63896"/>
                  <a:pt x="54856" y="64489"/>
                  <a:pt x="57015" y="67350"/>
                </a:cubicBezTo>
                <a:lnTo>
                  <a:pt x="64300" y="77063"/>
                </a:lnTo>
                <a:lnTo>
                  <a:pt x="80868" y="50539"/>
                </a:lnTo>
                <a:cubicBezTo>
                  <a:pt x="82757" y="47517"/>
                  <a:pt x="86750" y="46573"/>
                  <a:pt x="89799" y="48488"/>
                </a:cubicBezTo>
                <a:cubicBezTo>
                  <a:pt x="92849" y="50404"/>
                  <a:pt x="93766" y="54371"/>
                  <a:pt x="91850" y="5742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4" name="Text 42"/>
          <p:cNvSpPr/>
          <p:nvPr/>
        </p:nvSpPr>
        <p:spPr>
          <a:xfrm>
            <a:off x="6698615" y="5733415"/>
            <a:ext cx="3901440" cy="226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Модульность:</a:t>
            </a:r>
            <a:r>
              <a:rPr lang="en-US" sz="95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каждая функция отвечает за одну задачу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49091" y="712146"/>
            <a:ext cx="11650909" cy="3490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Тестирование проекта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9091" y="1131055"/>
            <a:ext cx="698182" cy="34909"/>
          </a:xfrm>
          <a:custGeom>
            <a:avLst/>
            <a:gdLst/>
            <a:ahLst/>
            <a:cxnLst/>
            <a:rect l="l" t="t" r="r" b="b"/>
            <a:pathLst>
              <a:path w="698182" h="34909">
                <a:moveTo>
                  <a:pt x="0" y="0"/>
                </a:moveTo>
                <a:lnTo>
                  <a:pt x="698182" y="0"/>
                </a:lnTo>
                <a:lnTo>
                  <a:pt x="698182" y="34909"/>
                </a:lnTo>
                <a:lnTo>
                  <a:pt x="0" y="34909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352582" y="1309092"/>
            <a:ext cx="5670982" cy="3724800"/>
          </a:xfrm>
          <a:custGeom>
            <a:avLst/>
            <a:gdLst/>
            <a:ahLst/>
            <a:cxnLst/>
            <a:rect l="l" t="t" r="r" b="b"/>
            <a:pathLst>
              <a:path w="5670982" h="3724800">
                <a:moveTo>
                  <a:pt x="104741" y="0"/>
                </a:moveTo>
                <a:lnTo>
                  <a:pt x="5566240" y="0"/>
                </a:lnTo>
                <a:cubicBezTo>
                  <a:pt x="5624088" y="0"/>
                  <a:pt x="5670982" y="46894"/>
                  <a:pt x="5670982" y="104741"/>
                </a:cubicBezTo>
                <a:lnTo>
                  <a:pt x="5670982" y="3620059"/>
                </a:lnTo>
                <a:cubicBezTo>
                  <a:pt x="5670982" y="3677906"/>
                  <a:pt x="5624088" y="3724800"/>
                  <a:pt x="5566240" y="3724800"/>
                </a:cubicBezTo>
                <a:lnTo>
                  <a:pt x="104741" y="3724800"/>
                </a:lnTo>
                <a:cubicBezTo>
                  <a:pt x="46894" y="3724800"/>
                  <a:pt x="0" y="3677906"/>
                  <a:pt x="0" y="3620059"/>
                </a:cubicBezTo>
                <a:lnTo>
                  <a:pt x="0" y="104741"/>
                </a:lnTo>
                <a:cubicBezTo>
                  <a:pt x="0" y="46933"/>
                  <a:pt x="46933" y="0"/>
                  <a:pt x="10474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618" y="1487126"/>
            <a:ext cx="349091" cy="349091"/>
          </a:xfrm>
          <a:custGeom>
            <a:avLst/>
            <a:gdLst/>
            <a:ahLst/>
            <a:cxnLst/>
            <a:rect l="l" t="t" r="r" b="b"/>
            <a:pathLst>
              <a:path w="349091" h="349091">
                <a:moveTo>
                  <a:pt x="69818" y="0"/>
                </a:moveTo>
                <a:lnTo>
                  <a:pt x="279273" y="0"/>
                </a:lnTo>
                <a:cubicBezTo>
                  <a:pt x="317832" y="0"/>
                  <a:pt x="349091" y="31259"/>
                  <a:pt x="349091" y="69818"/>
                </a:cubicBezTo>
                <a:lnTo>
                  <a:pt x="349091" y="279273"/>
                </a:lnTo>
                <a:cubicBezTo>
                  <a:pt x="349091" y="317832"/>
                  <a:pt x="317832" y="349091"/>
                  <a:pt x="279273" y="349091"/>
                </a:cubicBezTo>
                <a:lnTo>
                  <a:pt x="69818" y="349091"/>
                </a:lnTo>
                <a:cubicBezTo>
                  <a:pt x="31259" y="349091"/>
                  <a:pt x="0" y="317832"/>
                  <a:pt x="0" y="279273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" name="Shape 6"/>
          <p:cNvSpPr/>
          <p:nvPr/>
        </p:nvSpPr>
        <p:spPr>
          <a:xfrm>
            <a:off x="652800" y="1591854"/>
            <a:ext cx="104727" cy="139636"/>
          </a:xfrm>
          <a:custGeom>
            <a:avLst/>
            <a:gdLst/>
            <a:ahLst/>
            <a:cxnLst/>
            <a:rect l="l" t="t" r="r" b="b"/>
            <a:pathLst>
              <a:path w="104727" h="139636">
                <a:moveTo>
                  <a:pt x="84927" y="8727"/>
                </a:moveTo>
                <a:lnTo>
                  <a:pt x="87273" y="8727"/>
                </a:lnTo>
                <a:cubicBezTo>
                  <a:pt x="96900" y="8727"/>
                  <a:pt x="104727" y="16555"/>
                  <a:pt x="104727" y="26182"/>
                </a:cubicBezTo>
                <a:lnTo>
                  <a:pt x="104727" y="122182"/>
                </a:lnTo>
                <a:cubicBezTo>
                  <a:pt x="104727" y="131809"/>
                  <a:pt x="96900" y="139636"/>
                  <a:pt x="87273" y="139636"/>
                </a:cubicBezTo>
                <a:lnTo>
                  <a:pt x="17455" y="139636"/>
                </a:lnTo>
                <a:cubicBezTo>
                  <a:pt x="7827" y="139636"/>
                  <a:pt x="0" y="131809"/>
                  <a:pt x="0" y="122182"/>
                </a:cubicBezTo>
                <a:lnTo>
                  <a:pt x="0" y="26182"/>
                </a:lnTo>
                <a:cubicBezTo>
                  <a:pt x="0" y="16555"/>
                  <a:pt x="7827" y="8727"/>
                  <a:pt x="17455" y="8727"/>
                </a:cubicBezTo>
                <a:lnTo>
                  <a:pt x="19800" y="8727"/>
                </a:lnTo>
                <a:cubicBezTo>
                  <a:pt x="22800" y="3518"/>
                  <a:pt x="28445" y="0"/>
                  <a:pt x="34909" y="0"/>
                </a:cubicBezTo>
                <a:lnTo>
                  <a:pt x="69818" y="0"/>
                </a:lnTo>
                <a:cubicBezTo>
                  <a:pt x="76282" y="0"/>
                  <a:pt x="81927" y="3518"/>
                  <a:pt x="84927" y="8727"/>
                </a:cubicBezTo>
                <a:close/>
                <a:moveTo>
                  <a:pt x="67636" y="30545"/>
                </a:moveTo>
                <a:cubicBezTo>
                  <a:pt x="71264" y="30545"/>
                  <a:pt x="74182" y="27627"/>
                  <a:pt x="74182" y="24000"/>
                </a:cubicBezTo>
                <a:cubicBezTo>
                  <a:pt x="74182" y="20373"/>
                  <a:pt x="71264" y="17455"/>
                  <a:pt x="67636" y="17455"/>
                </a:cubicBezTo>
                <a:lnTo>
                  <a:pt x="37091" y="17455"/>
                </a:lnTo>
                <a:cubicBezTo>
                  <a:pt x="33464" y="17455"/>
                  <a:pt x="30545" y="20373"/>
                  <a:pt x="30545" y="24000"/>
                </a:cubicBezTo>
                <a:cubicBezTo>
                  <a:pt x="30545" y="27627"/>
                  <a:pt x="33464" y="30545"/>
                  <a:pt x="37091" y="30545"/>
                </a:cubicBezTo>
                <a:lnTo>
                  <a:pt x="67636" y="30545"/>
                </a:lnTo>
                <a:close/>
                <a:moveTo>
                  <a:pt x="34909" y="69818"/>
                </a:moveTo>
                <a:cubicBezTo>
                  <a:pt x="34909" y="65001"/>
                  <a:pt x="30999" y="61091"/>
                  <a:pt x="26182" y="61091"/>
                </a:cubicBezTo>
                <a:cubicBezTo>
                  <a:pt x="21365" y="61091"/>
                  <a:pt x="17455" y="65001"/>
                  <a:pt x="17455" y="69818"/>
                </a:cubicBezTo>
                <a:cubicBezTo>
                  <a:pt x="17455" y="74635"/>
                  <a:pt x="21365" y="78545"/>
                  <a:pt x="26182" y="78545"/>
                </a:cubicBezTo>
                <a:cubicBezTo>
                  <a:pt x="30999" y="78545"/>
                  <a:pt x="34909" y="74635"/>
                  <a:pt x="34909" y="69818"/>
                </a:cubicBezTo>
                <a:close/>
                <a:moveTo>
                  <a:pt x="43636" y="69818"/>
                </a:moveTo>
                <a:cubicBezTo>
                  <a:pt x="43636" y="73445"/>
                  <a:pt x="46555" y="76364"/>
                  <a:pt x="50182" y="76364"/>
                </a:cubicBezTo>
                <a:lnTo>
                  <a:pt x="80727" y="76364"/>
                </a:lnTo>
                <a:cubicBezTo>
                  <a:pt x="84355" y="76364"/>
                  <a:pt x="87273" y="73445"/>
                  <a:pt x="87273" y="69818"/>
                </a:cubicBezTo>
                <a:cubicBezTo>
                  <a:pt x="87273" y="66191"/>
                  <a:pt x="84355" y="63273"/>
                  <a:pt x="80727" y="63273"/>
                </a:cubicBezTo>
                <a:lnTo>
                  <a:pt x="50182" y="63273"/>
                </a:lnTo>
                <a:cubicBezTo>
                  <a:pt x="46555" y="63273"/>
                  <a:pt x="43636" y="66191"/>
                  <a:pt x="43636" y="69818"/>
                </a:cubicBezTo>
                <a:close/>
                <a:moveTo>
                  <a:pt x="43636" y="104727"/>
                </a:moveTo>
                <a:cubicBezTo>
                  <a:pt x="43636" y="108355"/>
                  <a:pt x="46555" y="111273"/>
                  <a:pt x="50182" y="111273"/>
                </a:cubicBezTo>
                <a:lnTo>
                  <a:pt x="80727" y="111273"/>
                </a:lnTo>
                <a:cubicBezTo>
                  <a:pt x="84355" y="111273"/>
                  <a:pt x="87273" y="108355"/>
                  <a:pt x="87273" y="104727"/>
                </a:cubicBezTo>
                <a:cubicBezTo>
                  <a:pt x="87273" y="101100"/>
                  <a:pt x="84355" y="98182"/>
                  <a:pt x="80727" y="98182"/>
                </a:cubicBezTo>
                <a:lnTo>
                  <a:pt x="50182" y="98182"/>
                </a:lnTo>
                <a:cubicBezTo>
                  <a:pt x="46555" y="98182"/>
                  <a:pt x="43636" y="101100"/>
                  <a:pt x="43636" y="104727"/>
                </a:cubicBezTo>
                <a:close/>
                <a:moveTo>
                  <a:pt x="26182" y="113455"/>
                </a:moveTo>
                <a:cubicBezTo>
                  <a:pt x="30999" y="113455"/>
                  <a:pt x="34909" y="109544"/>
                  <a:pt x="34909" y="104727"/>
                </a:cubicBezTo>
                <a:cubicBezTo>
                  <a:pt x="34909" y="99911"/>
                  <a:pt x="30999" y="96000"/>
                  <a:pt x="26182" y="96000"/>
                </a:cubicBezTo>
                <a:cubicBezTo>
                  <a:pt x="21365" y="96000"/>
                  <a:pt x="17455" y="99911"/>
                  <a:pt x="17455" y="104727"/>
                </a:cubicBezTo>
                <a:cubicBezTo>
                  <a:pt x="17455" y="109544"/>
                  <a:pt x="21365" y="113455"/>
                  <a:pt x="26182" y="113455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9" name="Text 7"/>
          <p:cNvSpPr/>
          <p:nvPr/>
        </p:nvSpPr>
        <p:spPr>
          <a:xfrm>
            <a:off x="984436" y="1539490"/>
            <a:ext cx="2120727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Сценарий использования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618" y="1975854"/>
            <a:ext cx="157091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9127" y="1975854"/>
            <a:ext cx="2155636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Пользователь запускает программу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618" y="2255126"/>
            <a:ext cx="183273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2800" y="2255126"/>
            <a:ext cx="2382545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Вводит числовые данные через пробел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618" y="2534399"/>
            <a:ext cx="183273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3.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400" y="2534399"/>
            <a:ext cx="3002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Программа вычисляет статистические показатели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618" y="2813672"/>
            <a:ext cx="183273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4.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6073" y="2813672"/>
            <a:ext cx="2094545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Отображает результаты в консоли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618" y="3092945"/>
            <a:ext cx="183273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600" y="3092945"/>
            <a:ext cx="2181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Строит гистограмму распределения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618" y="3372217"/>
            <a:ext cx="192000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6.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8255" y="3372217"/>
            <a:ext cx="2792727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Выполняет преобразование систем счисления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618" y="3651490"/>
            <a:ext cx="174545" cy="209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7.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6582" y="3651490"/>
            <a:ext cx="2330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Сохраняет результаты в файл result.txt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0728" y="1309092"/>
            <a:ext cx="5670982" cy="3724800"/>
          </a:xfrm>
          <a:custGeom>
            <a:avLst/>
            <a:gdLst/>
            <a:ahLst/>
            <a:cxnLst/>
            <a:rect l="l" t="t" r="r" b="b"/>
            <a:pathLst>
              <a:path w="5670982" h="3724800">
                <a:moveTo>
                  <a:pt x="104741" y="0"/>
                </a:moveTo>
                <a:lnTo>
                  <a:pt x="5566240" y="0"/>
                </a:lnTo>
                <a:cubicBezTo>
                  <a:pt x="5624088" y="0"/>
                  <a:pt x="5670982" y="46894"/>
                  <a:pt x="5670982" y="104741"/>
                </a:cubicBezTo>
                <a:lnTo>
                  <a:pt x="5670982" y="3620059"/>
                </a:lnTo>
                <a:cubicBezTo>
                  <a:pt x="5670982" y="3677906"/>
                  <a:pt x="5624088" y="3724800"/>
                  <a:pt x="5566240" y="3724800"/>
                </a:cubicBezTo>
                <a:lnTo>
                  <a:pt x="104741" y="3724800"/>
                </a:lnTo>
                <a:cubicBezTo>
                  <a:pt x="46894" y="3724800"/>
                  <a:pt x="0" y="3677906"/>
                  <a:pt x="0" y="3620059"/>
                </a:cubicBezTo>
                <a:lnTo>
                  <a:pt x="0" y="104741"/>
                </a:lnTo>
                <a:cubicBezTo>
                  <a:pt x="0" y="46933"/>
                  <a:pt x="46933" y="0"/>
                  <a:pt x="10474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8764" y="1487126"/>
            <a:ext cx="349091" cy="349091"/>
          </a:xfrm>
          <a:custGeom>
            <a:avLst/>
            <a:gdLst/>
            <a:ahLst/>
            <a:cxnLst/>
            <a:rect l="l" t="t" r="r" b="b"/>
            <a:pathLst>
              <a:path w="349091" h="349091">
                <a:moveTo>
                  <a:pt x="69818" y="0"/>
                </a:moveTo>
                <a:lnTo>
                  <a:pt x="279273" y="0"/>
                </a:lnTo>
                <a:cubicBezTo>
                  <a:pt x="317832" y="0"/>
                  <a:pt x="349091" y="31259"/>
                  <a:pt x="349091" y="69818"/>
                </a:cubicBezTo>
                <a:lnTo>
                  <a:pt x="349091" y="279273"/>
                </a:lnTo>
                <a:cubicBezTo>
                  <a:pt x="349091" y="317832"/>
                  <a:pt x="317832" y="349091"/>
                  <a:pt x="279273" y="349091"/>
                </a:cubicBezTo>
                <a:lnTo>
                  <a:pt x="69818" y="349091"/>
                </a:lnTo>
                <a:cubicBezTo>
                  <a:pt x="31259" y="349091"/>
                  <a:pt x="0" y="317832"/>
                  <a:pt x="0" y="279273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6" name="Shape 24"/>
          <p:cNvSpPr/>
          <p:nvPr/>
        </p:nvSpPr>
        <p:spPr>
          <a:xfrm>
            <a:off x="6453491" y="1591854"/>
            <a:ext cx="139636" cy="139636"/>
          </a:xfrm>
          <a:custGeom>
            <a:avLst/>
            <a:gdLst/>
            <a:ahLst/>
            <a:cxnLst/>
            <a:rect l="l" t="t" r="r" b="b"/>
            <a:pathLst>
              <a:path w="139636" h="139636">
                <a:moveTo>
                  <a:pt x="93436" y="2564"/>
                </a:moveTo>
                <a:cubicBezTo>
                  <a:pt x="90027" y="-845"/>
                  <a:pt x="84491" y="-845"/>
                  <a:pt x="81082" y="2564"/>
                </a:cubicBezTo>
                <a:cubicBezTo>
                  <a:pt x="77673" y="5973"/>
                  <a:pt x="77673" y="11509"/>
                  <a:pt x="81082" y="14918"/>
                </a:cubicBezTo>
                <a:lnTo>
                  <a:pt x="83645" y="17455"/>
                </a:lnTo>
                <a:lnTo>
                  <a:pt x="7664" y="93436"/>
                </a:lnTo>
                <a:cubicBezTo>
                  <a:pt x="2755" y="98345"/>
                  <a:pt x="0" y="105000"/>
                  <a:pt x="0" y="111955"/>
                </a:cubicBezTo>
                <a:lnTo>
                  <a:pt x="0" y="113455"/>
                </a:lnTo>
                <a:cubicBezTo>
                  <a:pt x="0" y="127909"/>
                  <a:pt x="11727" y="139636"/>
                  <a:pt x="26182" y="139636"/>
                </a:cubicBezTo>
                <a:lnTo>
                  <a:pt x="27682" y="139636"/>
                </a:lnTo>
                <a:cubicBezTo>
                  <a:pt x="34636" y="139636"/>
                  <a:pt x="41291" y="136882"/>
                  <a:pt x="46200" y="131973"/>
                </a:cubicBezTo>
                <a:lnTo>
                  <a:pt x="122182" y="55991"/>
                </a:lnTo>
                <a:lnTo>
                  <a:pt x="124745" y="58555"/>
                </a:lnTo>
                <a:cubicBezTo>
                  <a:pt x="128155" y="61964"/>
                  <a:pt x="133691" y="61964"/>
                  <a:pt x="137100" y="58555"/>
                </a:cubicBezTo>
                <a:cubicBezTo>
                  <a:pt x="140509" y="55145"/>
                  <a:pt x="140509" y="49609"/>
                  <a:pt x="137100" y="46200"/>
                </a:cubicBezTo>
                <a:lnTo>
                  <a:pt x="93464" y="2564"/>
                </a:lnTo>
                <a:close/>
                <a:moveTo>
                  <a:pt x="55991" y="69818"/>
                </a:moveTo>
                <a:lnTo>
                  <a:pt x="96000" y="29809"/>
                </a:lnTo>
                <a:lnTo>
                  <a:pt x="109827" y="43636"/>
                </a:lnTo>
                <a:lnTo>
                  <a:pt x="83645" y="69818"/>
                </a:lnTo>
                <a:lnTo>
                  <a:pt x="55964" y="69818"/>
                </a:lnTo>
                <a:close/>
              </a:path>
            </a:pathLst>
          </a:custGeom>
          <a:solidFill>
            <a:srgbClr val="ECEFF4"/>
          </a:solidFill>
        </p:spPr>
      </p:sp>
      <p:sp>
        <p:nvSpPr>
          <p:cNvPr id="27" name="Text 25"/>
          <p:cNvSpPr/>
          <p:nvPr/>
        </p:nvSpPr>
        <p:spPr>
          <a:xfrm>
            <a:off x="6802582" y="1539490"/>
            <a:ext cx="1501091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Тестовые данные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2255" y="1979345"/>
            <a:ext cx="5304436" cy="914618"/>
          </a:xfrm>
          <a:custGeom>
            <a:avLst/>
            <a:gdLst/>
            <a:ahLst/>
            <a:cxnLst/>
            <a:rect l="l" t="t" r="r" b="b"/>
            <a:pathLst>
              <a:path w="5304436" h="914618">
                <a:moveTo>
                  <a:pt x="69822" y="0"/>
                </a:moveTo>
                <a:lnTo>
                  <a:pt x="5234614" y="0"/>
                </a:lnTo>
                <a:cubicBezTo>
                  <a:pt x="5273176" y="0"/>
                  <a:pt x="5304436" y="31260"/>
                  <a:pt x="5304436" y="69822"/>
                </a:cubicBezTo>
                <a:lnTo>
                  <a:pt x="5304436" y="844796"/>
                </a:lnTo>
                <a:cubicBezTo>
                  <a:pt x="5304436" y="883358"/>
                  <a:pt x="5273176" y="914618"/>
                  <a:pt x="5234614" y="914618"/>
                </a:cubicBezTo>
                <a:lnTo>
                  <a:pt x="69822" y="914618"/>
                </a:lnTo>
                <a:cubicBezTo>
                  <a:pt x="31260" y="914618"/>
                  <a:pt x="0" y="883358"/>
                  <a:pt x="0" y="844796"/>
                </a:cubicBezTo>
                <a:lnTo>
                  <a:pt x="0" y="69822"/>
                </a:lnTo>
                <a:cubicBezTo>
                  <a:pt x="0" y="31260"/>
                  <a:pt x="31260" y="0"/>
                  <a:pt x="6982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5382" y="2122474"/>
            <a:ext cx="5079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Входные данные: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5382" y="2366838"/>
            <a:ext cx="5018182" cy="384000"/>
          </a:xfrm>
          <a:custGeom>
            <a:avLst/>
            <a:gdLst/>
            <a:ahLst/>
            <a:cxnLst/>
            <a:rect l="l" t="t" r="r" b="b"/>
            <a:pathLst>
              <a:path w="5018182" h="384000">
                <a:moveTo>
                  <a:pt x="34909" y="0"/>
                </a:moveTo>
                <a:lnTo>
                  <a:pt x="4983272" y="0"/>
                </a:lnTo>
                <a:cubicBezTo>
                  <a:pt x="5002552" y="0"/>
                  <a:pt x="5018182" y="15629"/>
                  <a:pt x="5018182" y="34909"/>
                </a:cubicBezTo>
                <a:lnTo>
                  <a:pt x="5018182" y="349091"/>
                </a:lnTo>
                <a:cubicBezTo>
                  <a:pt x="5018182" y="368371"/>
                  <a:pt x="5002552" y="384000"/>
                  <a:pt x="4983272" y="384000"/>
                </a:cubicBezTo>
                <a:lnTo>
                  <a:pt x="34909" y="384000"/>
                </a:lnTo>
                <a:cubicBezTo>
                  <a:pt x="15629" y="384000"/>
                  <a:pt x="0" y="368371"/>
                  <a:pt x="0" y="349091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5E81AC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495382" y="2366838"/>
            <a:ext cx="5096727" cy="384000"/>
          </a:xfrm>
          <a:prstGeom prst="rect">
            <a:avLst/>
          </a:prstGeom>
          <a:noFill/>
        </p:spPr>
        <p:txBody>
          <a:bodyPr wrap="square" lIns="104727" tIns="69818" rIns="104727" bIns="69818" rtlCol="0" anchor="ctr"/>
          <a:lstStyle/>
          <a:p>
            <a:pPr>
              <a:lnSpc>
                <a:spcPct val="130000"/>
              </a:lnSpc>
            </a:pPr>
            <a:r>
              <a:rPr lang="en-US" sz="123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2 5 7 3 9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8764" y="3002182"/>
            <a:ext cx="5314909" cy="314182"/>
          </a:xfrm>
          <a:custGeom>
            <a:avLst/>
            <a:gdLst/>
            <a:ahLst/>
            <a:cxnLst/>
            <a:rect l="l" t="t" r="r" b="b"/>
            <a:pathLst>
              <a:path w="5314909" h="314182">
                <a:moveTo>
                  <a:pt x="34909" y="0"/>
                </a:moveTo>
                <a:lnTo>
                  <a:pt x="5280000" y="0"/>
                </a:lnTo>
                <a:cubicBezTo>
                  <a:pt x="5299280" y="0"/>
                  <a:pt x="5314909" y="15629"/>
                  <a:pt x="5314909" y="34909"/>
                </a:cubicBezTo>
                <a:lnTo>
                  <a:pt x="5314909" y="279273"/>
                </a:lnTo>
                <a:cubicBezTo>
                  <a:pt x="5314909" y="298553"/>
                  <a:pt x="5299280" y="314182"/>
                  <a:pt x="5280000" y="314182"/>
                </a:cubicBezTo>
                <a:lnTo>
                  <a:pt x="34909" y="314182"/>
                </a:lnTo>
                <a:cubicBezTo>
                  <a:pt x="15642" y="314182"/>
                  <a:pt x="0" y="298540"/>
                  <a:pt x="0" y="279273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418582" y="3072000"/>
            <a:ext cx="567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Среднее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92800" y="3072000"/>
            <a:ext cx="261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5.2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48764" y="3386182"/>
            <a:ext cx="5314909" cy="314182"/>
          </a:xfrm>
          <a:custGeom>
            <a:avLst/>
            <a:gdLst/>
            <a:ahLst/>
            <a:cxnLst/>
            <a:rect l="l" t="t" r="r" b="b"/>
            <a:pathLst>
              <a:path w="5314909" h="314182">
                <a:moveTo>
                  <a:pt x="34909" y="0"/>
                </a:moveTo>
                <a:lnTo>
                  <a:pt x="5280000" y="0"/>
                </a:lnTo>
                <a:cubicBezTo>
                  <a:pt x="5299280" y="0"/>
                  <a:pt x="5314909" y="15629"/>
                  <a:pt x="5314909" y="34909"/>
                </a:cubicBezTo>
                <a:lnTo>
                  <a:pt x="5314909" y="279273"/>
                </a:lnTo>
                <a:cubicBezTo>
                  <a:pt x="5314909" y="298553"/>
                  <a:pt x="5299280" y="314182"/>
                  <a:pt x="5280000" y="314182"/>
                </a:cubicBezTo>
                <a:lnTo>
                  <a:pt x="34909" y="314182"/>
                </a:lnTo>
                <a:cubicBezTo>
                  <a:pt x="15642" y="314182"/>
                  <a:pt x="0" y="298540"/>
                  <a:pt x="0" y="279273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418582" y="3456000"/>
            <a:ext cx="584727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Медиана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92800" y="3456000"/>
            <a:ext cx="261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5.0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8764" y="3770182"/>
            <a:ext cx="5314909" cy="314182"/>
          </a:xfrm>
          <a:custGeom>
            <a:avLst/>
            <a:gdLst/>
            <a:ahLst/>
            <a:cxnLst/>
            <a:rect l="l" t="t" r="r" b="b"/>
            <a:pathLst>
              <a:path w="5314909" h="314182">
                <a:moveTo>
                  <a:pt x="34909" y="0"/>
                </a:moveTo>
                <a:lnTo>
                  <a:pt x="5280000" y="0"/>
                </a:lnTo>
                <a:cubicBezTo>
                  <a:pt x="5299280" y="0"/>
                  <a:pt x="5314909" y="15629"/>
                  <a:pt x="5314909" y="34909"/>
                </a:cubicBezTo>
                <a:lnTo>
                  <a:pt x="5314909" y="279273"/>
                </a:lnTo>
                <a:cubicBezTo>
                  <a:pt x="5314909" y="298553"/>
                  <a:pt x="5299280" y="314182"/>
                  <a:pt x="5280000" y="314182"/>
                </a:cubicBezTo>
                <a:lnTo>
                  <a:pt x="34909" y="314182"/>
                </a:lnTo>
                <a:cubicBezTo>
                  <a:pt x="15642" y="314182"/>
                  <a:pt x="0" y="298540"/>
                  <a:pt x="0" y="279273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418582" y="3840000"/>
            <a:ext cx="610909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Минимум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527201" y="3840000"/>
            <a:ext cx="130909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48764" y="4154182"/>
            <a:ext cx="5314909" cy="314182"/>
          </a:xfrm>
          <a:custGeom>
            <a:avLst/>
            <a:gdLst/>
            <a:ahLst/>
            <a:cxnLst/>
            <a:rect l="l" t="t" r="r" b="b"/>
            <a:pathLst>
              <a:path w="5314909" h="314182">
                <a:moveTo>
                  <a:pt x="34909" y="0"/>
                </a:moveTo>
                <a:lnTo>
                  <a:pt x="5280000" y="0"/>
                </a:lnTo>
                <a:cubicBezTo>
                  <a:pt x="5299280" y="0"/>
                  <a:pt x="5314909" y="15629"/>
                  <a:pt x="5314909" y="34909"/>
                </a:cubicBezTo>
                <a:lnTo>
                  <a:pt x="5314909" y="279273"/>
                </a:lnTo>
                <a:cubicBezTo>
                  <a:pt x="5314909" y="298553"/>
                  <a:pt x="5299280" y="314182"/>
                  <a:pt x="5280000" y="314182"/>
                </a:cubicBezTo>
                <a:lnTo>
                  <a:pt x="34909" y="314182"/>
                </a:lnTo>
                <a:cubicBezTo>
                  <a:pt x="15642" y="314182"/>
                  <a:pt x="0" y="298540"/>
                  <a:pt x="0" y="279273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6418582" y="4224000"/>
            <a:ext cx="663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Максимум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527201" y="4224000"/>
            <a:ext cx="130909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9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8764" y="4538182"/>
            <a:ext cx="5314909" cy="314182"/>
          </a:xfrm>
          <a:custGeom>
            <a:avLst/>
            <a:gdLst/>
            <a:ahLst/>
            <a:cxnLst/>
            <a:rect l="l" t="t" r="r" b="b"/>
            <a:pathLst>
              <a:path w="5314909" h="314182">
                <a:moveTo>
                  <a:pt x="34909" y="0"/>
                </a:moveTo>
                <a:lnTo>
                  <a:pt x="5280000" y="0"/>
                </a:lnTo>
                <a:cubicBezTo>
                  <a:pt x="5299280" y="0"/>
                  <a:pt x="5314909" y="15629"/>
                  <a:pt x="5314909" y="34909"/>
                </a:cubicBezTo>
                <a:lnTo>
                  <a:pt x="5314909" y="279273"/>
                </a:lnTo>
                <a:cubicBezTo>
                  <a:pt x="5314909" y="298553"/>
                  <a:pt x="5299280" y="314182"/>
                  <a:pt x="5280000" y="314182"/>
                </a:cubicBezTo>
                <a:lnTo>
                  <a:pt x="34909" y="314182"/>
                </a:lnTo>
                <a:cubicBezTo>
                  <a:pt x="15642" y="314182"/>
                  <a:pt x="0" y="298540"/>
                  <a:pt x="0" y="279273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6418582" y="4608000"/>
            <a:ext cx="1021091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Стд. отклонение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25600" y="4608000"/>
            <a:ext cx="331636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2.59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52582" y="5177021"/>
            <a:ext cx="3733527" cy="1682618"/>
          </a:xfrm>
          <a:custGeom>
            <a:avLst/>
            <a:gdLst/>
            <a:ahLst/>
            <a:cxnLst/>
            <a:rect l="l" t="t" r="r" b="b"/>
            <a:pathLst>
              <a:path w="3733527" h="1682618">
                <a:moveTo>
                  <a:pt x="104726" y="0"/>
                </a:moveTo>
                <a:lnTo>
                  <a:pt x="3628801" y="0"/>
                </a:lnTo>
                <a:cubicBezTo>
                  <a:pt x="3686640" y="0"/>
                  <a:pt x="3733527" y="46887"/>
                  <a:pt x="3733527" y="104726"/>
                </a:cubicBezTo>
                <a:lnTo>
                  <a:pt x="3733527" y="1577892"/>
                </a:lnTo>
                <a:cubicBezTo>
                  <a:pt x="3733527" y="1635731"/>
                  <a:pt x="3686640" y="1682618"/>
                  <a:pt x="3628801" y="1682618"/>
                </a:cubicBezTo>
                <a:lnTo>
                  <a:pt x="104726" y="1682618"/>
                </a:lnTo>
                <a:cubicBezTo>
                  <a:pt x="46887" y="1682618"/>
                  <a:pt x="0" y="1635731"/>
                  <a:pt x="0" y="1577892"/>
                </a:cubicBezTo>
                <a:lnTo>
                  <a:pt x="0" y="104726"/>
                </a:lnTo>
                <a:cubicBezTo>
                  <a:pt x="0" y="46926"/>
                  <a:pt x="46926" y="0"/>
                  <a:pt x="10472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5709" y="5320146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69818" y="0"/>
                </a:moveTo>
                <a:lnTo>
                  <a:pt x="209455" y="0"/>
                </a:lnTo>
                <a:cubicBezTo>
                  <a:pt x="247988" y="0"/>
                  <a:pt x="279273" y="31284"/>
                  <a:pt x="279273" y="69818"/>
                </a:cubicBezTo>
                <a:lnTo>
                  <a:pt x="279273" y="209455"/>
                </a:lnTo>
                <a:cubicBezTo>
                  <a:pt x="279273" y="248014"/>
                  <a:pt x="248014" y="279273"/>
                  <a:pt x="209455" y="279273"/>
                </a:cubicBezTo>
                <a:lnTo>
                  <a:pt x="69818" y="279273"/>
                </a:lnTo>
                <a:cubicBezTo>
                  <a:pt x="31259" y="279273"/>
                  <a:pt x="0" y="248014"/>
                  <a:pt x="0" y="209455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49" name="Shape 47"/>
          <p:cNvSpPr/>
          <p:nvPr/>
        </p:nvSpPr>
        <p:spPr>
          <a:xfrm>
            <a:off x="591709" y="5398692"/>
            <a:ext cx="91636" cy="122182"/>
          </a:xfrm>
          <a:custGeom>
            <a:avLst/>
            <a:gdLst/>
            <a:ahLst/>
            <a:cxnLst/>
            <a:rect l="l" t="t" r="r" b="b"/>
            <a:pathLst>
              <a:path w="91636" h="122182">
                <a:moveTo>
                  <a:pt x="59635" y="15941"/>
                </a:moveTo>
                <a:cubicBezTo>
                  <a:pt x="62117" y="12528"/>
                  <a:pt x="61353" y="7756"/>
                  <a:pt x="57941" y="5274"/>
                </a:cubicBezTo>
                <a:cubicBezTo>
                  <a:pt x="54528" y="2792"/>
                  <a:pt x="49756" y="3556"/>
                  <a:pt x="47274" y="6968"/>
                </a:cubicBezTo>
                <a:lnTo>
                  <a:pt x="21978" y="41737"/>
                </a:lnTo>
                <a:lnTo>
                  <a:pt x="13030" y="32789"/>
                </a:lnTo>
                <a:cubicBezTo>
                  <a:pt x="10047" y="29806"/>
                  <a:pt x="5202" y="29806"/>
                  <a:pt x="2219" y="32789"/>
                </a:cubicBezTo>
                <a:cubicBezTo>
                  <a:pt x="-764" y="35772"/>
                  <a:pt x="-764" y="40616"/>
                  <a:pt x="2219" y="43599"/>
                </a:cubicBezTo>
                <a:lnTo>
                  <a:pt x="17492" y="58872"/>
                </a:lnTo>
                <a:cubicBezTo>
                  <a:pt x="19067" y="60447"/>
                  <a:pt x="21263" y="61258"/>
                  <a:pt x="23482" y="61091"/>
                </a:cubicBezTo>
                <a:cubicBezTo>
                  <a:pt x="25701" y="60924"/>
                  <a:pt x="27753" y="59778"/>
                  <a:pt x="29066" y="57965"/>
                </a:cubicBezTo>
                <a:lnTo>
                  <a:pt x="59611" y="15965"/>
                </a:lnTo>
                <a:close/>
                <a:moveTo>
                  <a:pt x="90181" y="48395"/>
                </a:moveTo>
                <a:cubicBezTo>
                  <a:pt x="92663" y="44983"/>
                  <a:pt x="91899" y="40210"/>
                  <a:pt x="88486" y="37728"/>
                </a:cubicBezTo>
                <a:cubicBezTo>
                  <a:pt x="85074" y="35247"/>
                  <a:pt x="80301" y="36010"/>
                  <a:pt x="77819" y="39423"/>
                </a:cubicBezTo>
                <a:lnTo>
                  <a:pt x="37251" y="95192"/>
                </a:lnTo>
                <a:lnTo>
                  <a:pt x="20666" y="78607"/>
                </a:lnTo>
                <a:cubicBezTo>
                  <a:pt x="17683" y="75624"/>
                  <a:pt x="12839" y="75624"/>
                  <a:pt x="9856" y="78607"/>
                </a:cubicBezTo>
                <a:cubicBezTo>
                  <a:pt x="6873" y="81590"/>
                  <a:pt x="6873" y="86434"/>
                  <a:pt x="9856" y="89417"/>
                </a:cubicBezTo>
                <a:lnTo>
                  <a:pt x="32765" y="112326"/>
                </a:lnTo>
                <a:cubicBezTo>
                  <a:pt x="34340" y="113901"/>
                  <a:pt x="36535" y="114713"/>
                  <a:pt x="38755" y="114545"/>
                </a:cubicBezTo>
                <a:cubicBezTo>
                  <a:pt x="40974" y="114378"/>
                  <a:pt x="43026" y="113233"/>
                  <a:pt x="44339" y="111419"/>
                </a:cubicBezTo>
                <a:lnTo>
                  <a:pt x="90157" y="48419"/>
                </a:lnTo>
                <a:close/>
              </a:path>
            </a:pathLst>
          </a:custGeom>
          <a:solidFill>
            <a:srgbClr val="ECEFF4"/>
          </a:solidFill>
        </p:spPr>
      </p:sp>
      <p:sp>
        <p:nvSpPr>
          <p:cNvPr id="50" name="Text 48"/>
          <p:cNvSpPr/>
          <p:nvPr/>
        </p:nvSpPr>
        <p:spPr>
          <a:xfrm>
            <a:off x="879709" y="5337601"/>
            <a:ext cx="916364" cy="244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Результаты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0800" y="573032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52" name="Text 50"/>
          <p:cNvSpPr/>
          <p:nvPr/>
        </p:nvSpPr>
        <p:spPr>
          <a:xfrm>
            <a:off x="718255" y="5704146"/>
            <a:ext cx="1675636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Все вычисления корректны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20800" y="5939783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54" name="Text 52"/>
          <p:cNvSpPr/>
          <p:nvPr/>
        </p:nvSpPr>
        <p:spPr>
          <a:xfrm>
            <a:off x="718255" y="5913601"/>
            <a:ext cx="1457455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Гистограмма построена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0800" y="6149237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56" name="Text 54"/>
          <p:cNvSpPr/>
          <p:nvPr/>
        </p:nvSpPr>
        <p:spPr>
          <a:xfrm>
            <a:off x="718255" y="6123055"/>
            <a:ext cx="1335273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Файл result.txt создан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20800" y="6358692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58" name="Text 56"/>
          <p:cNvSpPr/>
          <p:nvPr/>
        </p:nvSpPr>
        <p:spPr>
          <a:xfrm>
            <a:off x="718255" y="6332510"/>
            <a:ext cx="1309091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Ошибок не выявлено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31309" y="5177021"/>
            <a:ext cx="3733527" cy="1682618"/>
          </a:xfrm>
          <a:custGeom>
            <a:avLst/>
            <a:gdLst/>
            <a:ahLst/>
            <a:cxnLst/>
            <a:rect l="l" t="t" r="r" b="b"/>
            <a:pathLst>
              <a:path w="3733527" h="1682618">
                <a:moveTo>
                  <a:pt x="104726" y="0"/>
                </a:moveTo>
                <a:lnTo>
                  <a:pt x="3628801" y="0"/>
                </a:lnTo>
                <a:cubicBezTo>
                  <a:pt x="3686640" y="0"/>
                  <a:pt x="3733527" y="46887"/>
                  <a:pt x="3733527" y="104726"/>
                </a:cubicBezTo>
                <a:lnTo>
                  <a:pt x="3733527" y="1577892"/>
                </a:lnTo>
                <a:cubicBezTo>
                  <a:pt x="3733527" y="1635731"/>
                  <a:pt x="3686640" y="1682618"/>
                  <a:pt x="3628801" y="1682618"/>
                </a:cubicBezTo>
                <a:lnTo>
                  <a:pt x="104726" y="1682618"/>
                </a:lnTo>
                <a:cubicBezTo>
                  <a:pt x="46887" y="1682618"/>
                  <a:pt x="0" y="1635731"/>
                  <a:pt x="0" y="1577892"/>
                </a:cubicBezTo>
                <a:lnTo>
                  <a:pt x="0" y="104726"/>
                </a:lnTo>
                <a:cubicBezTo>
                  <a:pt x="0" y="46926"/>
                  <a:pt x="46926" y="0"/>
                  <a:pt x="10472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74437" y="5320146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69818" y="0"/>
                </a:moveTo>
                <a:lnTo>
                  <a:pt x="209455" y="0"/>
                </a:lnTo>
                <a:cubicBezTo>
                  <a:pt x="247988" y="0"/>
                  <a:pt x="279273" y="31284"/>
                  <a:pt x="279273" y="69818"/>
                </a:cubicBezTo>
                <a:lnTo>
                  <a:pt x="279273" y="209455"/>
                </a:lnTo>
                <a:cubicBezTo>
                  <a:pt x="279273" y="248014"/>
                  <a:pt x="248014" y="279273"/>
                  <a:pt x="209455" y="279273"/>
                </a:cubicBezTo>
                <a:lnTo>
                  <a:pt x="69818" y="279273"/>
                </a:lnTo>
                <a:cubicBezTo>
                  <a:pt x="31259" y="279273"/>
                  <a:pt x="0" y="248014"/>
                  <a:pt x="0" y="209455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1" name="Shape 59"/>
          <p:cNvSpPr/>
          <p:nvPr/>
        </p:nvSpPr>
        <p:spPr>
          <a:xfrm>
            <a:off x="4455164" y="5398692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119939" y="35939"/>
                </a:moveTo>
                <a:lnTo>
                  <a:pt x="97030" y="58848"/>
                </a:lnTo>
                <a:cubicBezTo>
                  <a:pt x="94834" y="61043"/>
                  <a:pt x="91565" y="61687"/>
                  <a:pt x="88701" y="60494"/>
                </a:cubicBezTo>
                <a:cubicBezTo>
                  <a:pt x="85838" y="59301"/>
                  <a:pt x="84000" y="56533"/>
                  <a:pt x="84000" y="53455"/>
                </a:cubicBezTo>
                <a:lnTo>
                  <a:pt x="84000" y="38182"/>
                </a:lnTo>
                <a:lnTo>
                  <a:pt x="7636" y="38182"/>
                </a:lnTo>
                <a:cubicBezTo>
                  <a:pt x="3413" y="38182"/>
                  <a:pt x="0" y="34769"/>
                  <a:pt x="0" y="30545"/>
                </a:cubicBezTo>
                <a:cubicBezTo>
                  <a:pt x="0" y="26322"/>
                  <a:pt x="3413" y="22909"/>
                  <a:pt x="7636" y="22909"/>
                </a:cubicBezTo>
                <a:lnTo>
                  <a:pt x="84000" y="22909"/>
                </a:lnTo>
                <a:lnTo>
                  <a:pt x="84000" y="7636"/>
                </a:lnTo>
                <a:cubicBezTo>
                  <a:pt x="84000" y="4558"/>
                  <a:pt x="85861" y="1766"/>
                  <a:pt x="88725" y="573"/>
                </a:cubicBezTo>
                <a:cubicBezTo>
                  <a:pt x="91589" y="-620"/>
                  <a:pt x="94858" y="48"/>
                  <a:pt x="97053" y="2219"/>
                </a:cubicBezTo>
                <a:lnTo>
                  <a:pt x="119963" y="25128"/>
                </a:lnTo>
                <a:cubicBezTo>
                  <a:pt x="122945" y="28111"/>
                  <a:pt x="122945" y="32956"/>
                  <a:pt x="119963" y="35939"/>
                </a:cubicBezTo>
                <a:close/>
                <a:moveTo>
                  <a:pt x="25128" y="119939"/>
                </a:moveTo>
                <a:lnTo>
                  <a:pt x="2219" y="97030"/>
                </a:lnTo>
                <a:cubicBezTo>
                  <a:pt x="-764" y="94047"/>
                  <a:pt x="-764" y="89202"/>
                  <a:pt x="2219" y="86219"/>
                </a:cubicBezTo>
                <a:lnTo>
                  <a:pt x="25128" y="63310"/>
                </a:lnTo>
                <a:cubicBezTo>
                  <a:pt x="27324" y="61115"/>
                  <a:pt x="30593" y="60470"/>
                  <a:pt x="33457" y="61664"/>
                </a:cubicBezTo>
                <a:cubicBezTo>
                  <a:pt x="36320" y="62857"/>
                  <a:pt x="38182" y="65649"/>
                  <a:pt x="38182" y="68727"/>
                </a:cubicBezTo>
                <a:lnTo>
                  <a:pt x="38182" y="84000"/>
                </a:lnTo>
                <a:lnTo>
                  <a:pt x="114545" y="84000"/>
                </a:lnTo>
                <a:cubicBezTo>
                  <a:pt x="118769" y="84000"/>
                  <a:pt x="122182" y="87413"/>
                  <a:pt x="122182" y="91636"/>
                </a:cubicBezTo>
                <a:cubicBezTo>
                  <a:pt x="122182" y="95860"/>
                  <a:pt x="118769" y="99273"/>
                  <a:pt x="114545" y="99273"/>
                </a:cubicBezTo>
                <a:lnTo>
                  <a:pt x="38182" y="99273"/>
                </a:lnTo>
                <a:lnTo>
                  <a:pt x="38182" y="114545"/>
                </a:lnTo>
                <a:cubicBezTo>
                  <a:pt x="38182" y="117624"/>
                  <a:pt x="36320" y="120416"/>
                  <a:pt x="33457" y="121609"/>
                </a:cubicBezTo>
                <a:cubicBezTo>
                  <a:pt x="30593" y="122802"/>
                  <a:pt x="27324" y="122134"/>
                  <a:pt x="25128" y="119963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62" name="Text 60"/>
          <p:cNvSpPr/>
          <p:nvPr/>
        </p:nvSpPr>
        <p:spPr>
          <a:xfrm>
            <a:off x="4758690" y="5337810"/>
            <a:ext cx="1736090" cy="244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Преобразования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399527" y="573032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4" name="Text 62"/>
          <p:cNvSpPr/>
          <p:nvPr/>
        </p:nvSpPr>
        <p:spPr>
          <a:xfrm>
            <a:off x="4596982" y="5704146"/>
            <a:ext cx="602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 → 10 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399527" y="5939783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6" name="Text 64"/>
          <p:cNvSpPr/>
          <p:nvPr/>
        </p:nvSpPr>
        <p:spPr>
          <a:xfrm>
            <a:off x="4596982" y="5913601"/>
            <a:ext cx="654545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 → 16 ✓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399527" y="6149237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68" name="Text 66"/>
          <p:cNvSpPr/>
          <p:nvPr/>
        </p:nvSpPr>
        <p:spPr>
          <a:xfrm>
            <a:off x="4596982" y="6123055"/>
            <a:ext cx="602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10 → 2 ✓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399527" y="6358692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0" name="Text 68"/>
          <p:cNvSpPr/>
          <p:nvPr/>
        </p:nvSpPr>
        <p:spPr>
          <a:xfrm>
            <a:off x="4596982" y="6332510"/>
            <a:ext cx="602182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16 → 2 ✓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023857" y="5730581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2" name="Text 70"/>
          <p:cNvSpPr/>
          <p:nvPr/>
        </p:nvSpPr>
        <p:spPr>
          <a:xfrm>
            <a:off x="6171147" y="5913949"/>
            <a:ext cx="1125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16-&gt; 10</a:t>
            </a:r>
            <a:r>
              <a:rPr lang="en-US" sz="10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110036" y="5177021"/>
            <a:ext cx="3733527" cy="1682618"/>
          </a:xfrm>
          <a:custGeom>
            <a:avLst/>
            <a:gdLst/>
            <a:ahLst/>
            <a:cxnLst/>
            <a:rect l="l" t="t" r="r" b="b"/>
            <a:pathLst>
              <a:path w="3733527" h="1682618">
                <a:moveTo>
                  <a:pt x="104726" y="0"/>
                </a:moveTo>
                <a:lnTo>
                  <a:pt x="3628801" y="0"/>
                </a:lnTo>
                <a:cubicBezTo>
                  <a:pt x="3686640" y="0"/>
                  <a:pt x="3733527" y="46887"/>
                  <a:pt x="3733527" y="104726"/>
                </a:cubicBezTo>
                <a:lnTo>
                  <a:pt x="3733527" y="1577892"/>
                </a:lnTo>
                <a:cubicBezTo>
                  <a:pt x="3733527" y="1635731"/>
                  <a:pt x="3686640" y="1682618"/>
                  <a:pt x="3628801" y="1682618"/>
                </a:cubicBezTo>
                <a:lnTo>
                  <a:pt x="104726" y="1682618"/>
                </a:lnTo>
                <a:cubicBezTo>
                  <a:pt x="46887" y="1682618"/>
                  <a:pt x="0" y="1635731"/>
                  <a:pt x="0" y="1577892"/>
                </a:cubicBezTo>
                <a:lnTo>
                  <a:pt x="0" y="104726"/>
                </a:lnTo>
                <a:cubicBezTo>
                  <a:pt x="0" y="46926"/>
                  <a:pt x="46926" y="0"/>
                  <a:pt x="10472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53164" y="5320146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69818" y="0"/>
                </a:moveTo>
                <a:lnTo>
                  <a:pt x="209455" y="0"/>
                </a:lnTo>
                <a:cubicBezTo>
                  <a:pt x="247988" y="0"/>
                  <a:pt x="279273" y="31284"/>
                  <a:pt x="279273" y="69818"/>
                </a:cubicBezTo>
                <a:lnTo>
                  <a:pt x="279273" y="209455"/>
                </a:lnTo>
                <a:cubicBezTo>
                  <a:pt x="279273" y="248014"/>
                  <a:pt x="248014" y="279273"/>
                  <a:pt x="209455" y="279273"/>
                </a:cubicBezTo>
                <a:lnTo>
                  <a:pt x="69818" y="279273"/>
                </a:lnTo>
                <a:cubicBezTo>
                  <a:pt x="31259" y="279273"/>
                  <a:pt x="0" y="248014"/>
                  <a:pt x="0" y="209455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5" name="Shape 73"/>
          <p:cNvSpPr/>
          <p:nvPr/>
        </p:nvSpPr>
        <p:spPr>
          <a:xfrm>
            <a:off x="8326254" y="5398692"/>
            <a:ext cx="137455" cy="122182"/>
          </a:xfrm>
          <a:custGeom>
            <a:avLst/>
            <a:gdLst/>
            <a:ahLst/>
            <a:cxnLst/>
            <a:rect l="l" t="t" r="r" b="b"/>
            <a:pathLst>
              <a:path w="137455" h="122182">
                <a:moveTo>
                  <a:pt x="45818" y="22909"/>
                </a:moveTo>
                <a:cubicBezTo>
                  <a:pt x="45818" y="10261"/>
                  <a:pt x="56080" y="0"/>
                  <a:pt x="68727" y="0"/>
                </a:cubicBezTo>
                <a:cubicBezTo>
                  <a:pt x="81375" y="0"/>
                  <a:pt x="91636" y="10261"/>
                  <a:pt x="91636" y="22909"/>
                </a:cubicBezTo>
                <a:lnTo>
                  <a:pt x="91636" y="23768"/>
                </a:lnTo>
                <a:cubicBezTo>
                  <a:pt x="91636" y="27515"/>
                  <a:pt x="88606" y="30545"/>
                  <a:pt x="84859" y="30545"/>
                </a:cubicBezTo>
                <a:lnTo>
                  <a:pt x="52619" y="30545"/>
                </a:lnTo>
                <a:cubicBezTo>
                  <a:pt x="48873" y="30545"/>
                  <a:pt x="45842" y="27515"/>
                  <a:pt x="45842" y="23768"/>
                </a:cubicBezTo>
                <a:lnTo>
                  <a:pt x="45842" y="22909"/>
                </a:lnTo>
                <a:close/>
                <a:moveTo>
                  <a:pt x="128291" y="25964"/>
                </a:moveTo>
                <a:cubicBezTo>
                  <a:pt x="130820" y="29328"/>
                  <a:pt x="130128" y="34125"/>
                  <a:pt x="126764" y="36655"/>
                </a:cubicBezTo>
                <a:lnTo>
                  <a:pt x="103425" y="54147"/>
                </a:lnTo>
                <a:cubicBezTo>
                  <a:pt x="104690" y="56270"/>
                  <a:pt x="105644" y="58609"/>
                  <a:pt x="106241" y="61091"/>
                </a:cubicBezTo>
                <a:lnTo>
                  <a:pt x="129818" y="61091"/>
                </a:lnTo>
                <a:cubicBezTo>
                  <a:pt x="134042" y="61091"/>
                  <a:pt x="137455" y="64503"/>
                  <a:pt x="137455" y="68727"/>
                </a:cubicBezTo>
                <a:cubicBezTo>
                  <a:pt x="137455" y="72951"/>
                  <a:pt x="134042" y="76364"/>
                  <a:pt x="129818" y="76364"/>
                </a:cubicBezTo>
                <a:lnTo>
                  <a:pt x="106909" y="76364"/>
                </a:lnTo>
                <a:lnTo>
                  <a:pt x="106909" y="84000"/>
                </a:lnTo>
                <a:cubicBezTo>
                  <a:pt x="106909" y="84620"/>
                  <a:pt x="106885" y="85265"/>
                  <a:pt x="106861" y="85885"/>
                </a:cubicBezTo>
                <a:lnTo>
                  <a:pt x="126764" y="100800"/>
                </a:lnTo>
                <a:cubicBezTo>
                  <a:pt x="130128" y="103330"/>
                  <a:pt x="130820" y="108126"/>
                  <a:pt x="128291" y="111491"/>
                </a:cubicBezTo>
                <a:cubicBezTo>
                  <a:pt x="125761" y="114856"/>
                  <a:pt x="120965" y="115548"/>
                  <a:pt x="117600" y="113018"/>
                </a:cubicBezTo>
                <a:lnTo>
                  <a:pt x="102542" y="101731"/>
                </a:lnTo>
                <a:cubicBezTo>
                  <a:pt x="97006" y="112278"/>
                  <a:pt x="86673" y="119915"/>
                  <a:pt x="74455" y="121752"/>
                </a:cubicBezTo>
                <a:lnTo>
                  <a:pt x="74455" y="66818"/>
                </a:lnTo>
                <a:cubicBezTo>
                  <a:pt x="74455" y="63644"/>
                  <a:pt x="71901" y="61091"/>
                  <a:pt x="68727" y="61091"/>
                </a:cubicBezTo>
                <a:cubicBezTo>
                  <a:pt x="65553" y="61091"/>
                  <a:pt x="63000" y="63644"/>
                  <a:pt x="63000" y="66818"/>
                </a:cubicBezTo>
                <a:lnTo>
                  <a:pt x="63000" y="121752"/>
                </a:lnTo>
                <a:cubicBezTo>
                  <a:pt x="50782" y="119915"/>
                  <a:pt x="40449" y="112278"/>
                  <a:pt x="34913" y="101731"/>
                </a:cubicBezTo>
                <a:lnTo>
                  <a:pt x="19855" y="113018"/>
                </a:lnTo>
                <a:cubicBezTo>
                  <a:pt x="16490" y="115548"/>
                  <a:pt x="11693" y="114856"/>
                  <a:pt x="9164" y="111491"/>
                </a:cubicBezTo>
                <a:cubicBezTo>
                  <a:pt x="6634" y="108126"/>
                  <a:pt x="7326" y="103330"/>
                  <a:pt x="10691" y="100800"/>
                </a:cubicBezTo>
                <a:lnTo>
                  <a:pt x="30593" y="85885"/>
                </a:lnTo>
                <a:cubicBezTo>
                  <a:pt x="30569" y="85265"/>
                  <a:pt x="30545" y="84644"/>
                  <a:pt x="30545" y="84000"/>
                </a:cubicBezTo>
                <a:lnTo>
                  <a:pt x="30545" y="76364"/>
                </a:lnTo>
                <a:lnTo>
                  <a:pt x="7636" y="76364"/>
                </a:lnTo>
                <a:cubicBezTo>
                  <a:pt x="3413" y="76364"/>
                  <a:pt x="0" y="72951"/>
                  <a:pt x="0" y="68727"/>
                </a:cubicBezTo>
                <a:cubicBezTo>
                  <a:pt x="0" y="64503"/>
                  <a:pt x="3413" y="61091"/>
                  <a:pt x="7636" y="61091"/>
                </a:cubicBezTo>
                <a:lnTo>
                  <a:pt x="31214" y="61091"/>
                </a:lnTo>
                <a:cubicBezTo>
                  <a:pt x="31810" y="58609"/>
                  <a:pt x="32765" y="56270"/>
                  <a:pt x="34030" y="54147"/>
                </a:cubicBezTo>
                <a:lnTo>
                  <a:pt x="10691" y="36655"/>
                </a:lnTo>
                <a:cubicBezTo>
                  <a:pt x="7326" y="34125"/>
                  <a:pt x="6634" y="29328"/>
                  <a:pt x="9164" y="25964"/>
                </a:cubicBezTo>
                <a:cubicBezTo>
                  <a:pt x="11693" y="22599"/>
                  <a:pt x="16490" y="21907"/>
                  <a:pt x="19855" y="24436"/>
                </a:cubicBezTo>
                <a:lnTo>
                  <a:pt x="45818" y="43909"/>
                </a:lnTo>
                <a:cubicBezTo>
                  <a:pt x="48753" y="42692"/>
                  <a:pt x="51975" y="42000"/>
                  <a:pt x="55364" y="42000"/>
                </a:cubicBezTo>
                <a:lnTo>
                  <a:pt x="82091" y="42000"/>
                </a:lnTo>
                <a:cubicBezTo>
                  <a:pt x="85480" y="42000"/>
                  <a:pt x="88701" y="42668"/>
                  <a:pt x="91636" y="43909"/>
                </a:cubicBezTo>
                <a:lnTo>
                  <a:pt x="117600" y="24436"/>
                </a:lnTo>
                <a:cubicBezTo>
                  <a:pt x="120965" y="21907"/>
                  <a:pt x="125761" y="22599"/>
                  <a:pt x="128291" y="25964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76" name="Text 74"/>
          <p:cNvSpPr/>
          <p:nvPr/>
        </p:nvSpPr>
        <p:spPr>
          <a:xfrm>
            <a:off x="8637270" y="5337810"/>
            <a:ext cx="2876550" cy="244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Обработка ошибок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78254" y="573032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78" name="Text 76"/>
          <p:cNvSpPr/>
          <p:nvPr/>
        </p:nvSpPr>
        <p:spPr>
          <a:xfrm>
            <a:off x="8475709" y="5704146"/>
            <a:ext cx="960000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Неверный ввод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78254" y="5939783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0" name="Text 78"/>
          <p:cNvSpPr/>
          <p:nvPr/>
        </p:nvSpPr>
        <p:spPr>
          <a:xfrm>
            <a:off x="8475709" y="5913601"/>
            <a:ext cx="1003636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Мало чисел (&lt;2)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78254" y="6149237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2" name="Text 80"/>
          <p:cNvSpPr/>
          <p:nvPr/>
        </p:nvSpPr>
        <p:spPr>
          <a:xfrm>
            <a:off x="8475709" y="6123055"/>
            <a:ext cx="1134545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Неверная система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78254" y="6358692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4" name="Text 82"/>
          <p:cNvSpPr/>
          <p:nvPr/>
        </p:nvSpPr>
        <p:spPr>
          <a:xfrm>
            <a:off x="8475709" y="6332510"/>
            <a:ext cx="1501091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Неверный формат числа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78254" y="6568146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86" name="Text 84"/>
          <p:cNvSpPr/>
          <p:nvPr/>
        </p:nvSpPr>
        <p:spPr>
          <a:xfrm>
            <a:off x="8475709" y="6541964"/>
            <a:ext cx="1413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Неверный выбор меню</a:t>
            </a:r>
            <a:endParaRPr lang="en-US" sz="1600" dirty="0"/>
          </a:p>
        </p:txBody>
      </p:sp>
      <p:sp>
        <p:nvSpPr>
          <p:cNvPr id="87" name="Text 70"/>
          <p:cNvSpPr/>
          <p:nvPr/>
        </p:nvSpPr>
        <p:spPr>
          <a:xfrm>
            <a:off x="6171147" y="5704399"/>
            <a:ext cx="1125818" cy="17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2-&gt; 16</a:t>
            </a:r>
            <a:r>
              <a:rPr lang="en-US" sz="10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  <a:sym typeface="+mn-ea"/>
              </a:rPr>
              <a:t>✓</a:t>
            </a:r>
            <a:endParaRPr lang="en-US" sz="1000" dirty="0"/>
          </a:p>
        </p:txBody>
      </p:sp>
      <p:sp>
        <p:nvSpPr>
          <p:cNvPr id="88" name="Shape 69"/>
          <p:cNvSpPr/>
          <p:nvPr/>
        </p:nvSpPr>
        <p:spPr>
          <a:xfrm>
            <a:off x="6024492" y="5939496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5E81AC"/>
          </a:solidFill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3904" y="721965"/>
            <a:ext cx="11643448" cy="3539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Сравнительный анализ решений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904" y="1146655"/>
            <a:ext cx="707808" cy="35390"/>
          </a:xfrm>
          <a:custGeom>
            <a:avLst/>
            <a:gdLst/>
            <a:ahLst/>
            <a:cxnLst/>
            <a:rect l="l" t="t" r="r" b="b"/>
            <a:pathLst>
              <a:path w="707808" h="35390">
                <a:moveTo>
                  <a:pt x="0" y="0"/>
                </a:moveTo>
                <a:lnTo>
                  <a:pt x="707808" y="0"/>
                </a:lnTo>
                <a:lnTo>
                  <a:pt x="707808" y="35390"/>
                </a:lnTo>
                <a:lnTo>
                  <a:pt x="0" y="35390"/>
                </a:lnTo>
                <a:lnTo>
                  <a:pt x="0" y="0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6" name="Shape 4"/>
          <p:cNvSpPr/>
          <p:nvPr/>
        </p:nvSpPr>
        <p:spPr>
          <a:xfrm>
            <a:off x="357443" y="1291756"/>
            <a:ext cx="11473574" cy="2245522"/>
          </a:xfrm>
          <a:custGeom>
            <a:avLst/>
            <a:gdLst/>
            <a:ahLst/>
            <a:cxnLst/>
            <a:rect l="l" t="t" r="r" b="b"/>
            <a:pathLst>
              <a:path w="11473574" h="2245522">
                <a:moveTo>
                  <a:pt x="106168" y="0"/>
                </a:moveTo>
                <a:lnTo>
                  <a:pt x="11367406" y="0"/>
                </a:lnTo>
                <a:cubicBezTo>
                  <a:pt x="11426041" y="0"/>
                  <a:pt x="11473574" y="47533"/>
                  <a:pt x="11473574" y="106168"/>
                </a:cubicBezTo>
                <a:lnTo>
                  <a:pt x="11473574" y="2139354"/>
                </a:lnTo>
                <a:cubicBezTo>
                  <a:pt x="11473574" y="2197989"/>
                  <a:pt x="11426041" y="2245522"/>
                  <a:pt x="11367406" y="2245522"/>
                </a:cubicBezTo>
                <a:lnTo>
                  <a:pt x="106168" y="2245522"/>
                </a:lnTo>
                <a:cubicBezTo>
                  <a:pt x="47533" y="2245522"/>
                  <a:pt x="0" y="2197989"/>
                  <a:pt x="0" y="2139354"/>
                </a:cubicBezTo>
                <a:lnTo>
                  <a:pt x="0" y="106168"/>
                </a:lnTo>
                <a:cubicBezTo>
                  <a:pt x="0" y="47572"/>
                  <a:pt x="47572" y="0"/>
                  <a:pt x="1061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544" y="1436855"/>
          <a:ext cx="11183373" cy="1955322"/>
        </p:xfrm>
        <a:graphic>
          <a:graphicData uri="http://schemas.openxmlformats.org/drawingml/2006/table">
            <a:tbl>
              <a:tblPr/>
              <a:tblGrid>
                <a:gridCol w="3701227"/>
                <a:gridCol w="2594401"/>
                <a:gridCol w="2461582"/>
                <a:gridCol w="2426163"/>
              </a:tblGrid>
              <a:tr h="325887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Характеристика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5E8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Microsoft Excel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5E8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Online Calculator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5E8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Моя программа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5E8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1AC">
                        <a:alpha val="20000"/>
                      </a:srgbClr>
                    </a:solidFill>
                  </a:tcPr>
                </a:tc>
              </a:tr>
              <a:tr h="3258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Требования к установке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Требуется Office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Не требуется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Python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1AC">
                        <a:alpha val="10000"/>
                      </a:srgbClr>
                    </a:solidFill>
                  </a:tcPr>
                </a:tc>
              </a:tr>
              <a:tr h="3258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Сложность использования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Средняя/Высокая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Простая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Простая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1AC">
                        <a:alpha val="10000"/>
                      </a:srgbClr>
                    </a:solidFill>
                  </a:tcPr>
                </a:tc>
              </a:tr>
              <a:tr h="3258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Насыщенность функций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Высокая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Низкая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Средняя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1AC">
                        <a:alpha val="10000"/>
                      </a:srgbClr>
                    </a:solidFill>
                  </a:tcPr>
                </a:tc>
              </a:tr>
              <a:tr h="3258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Визуализация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Высокая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Низкая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Средняя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1AC">
                        <a:alpha val="10000"/>
                      </a:srgbClr>
                    </a:solidFill>
                  </a:tcPr>
                </a:tc>
              </a:tr>
              <a:tr h="325887"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Совместная работа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Высокая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Низкая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ECEFF4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Экспорт файлов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6171" marR="106171" marT="70781" marB="7078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E81AC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57443" y="3648752"/>
            <a:ext cx="5678393" cy="2449017"/>
          </a:xfrm>
          <a:custGeom>
            <a:avLst/>
            <a:gdLst/>
            <a:ahLst/>
            <a:cxnLst/>
            <a:rect l="l" t="t" r="r" b="b"/>
            <a:pathLst>
              <a:path w="5678393" h="2449017">
                <a:moveTo>
                  <a:pt x="106165" y="0"/>
                </a:moveTo>
                <a:lnTo>
                  <a:pt x="5572228" y="0"/>
                </a:lnTo>
                <a:cubicBezTo>
                  <a:pt x="5630861" y="0"/>
                  <a:pt x="5678393" y="47532"/>
                  <a:pt x="5678393" y="106165"/>
                </a:cubicBezTo>
                <a:lnTo>
                  <a:pt x="5678393" y="2342852"/>
                </a:lnTo>
                <a:cubicBezTo>
                  <a:pt x="5678393" y="2401485"/>
                  <a:pt x="5630861" y="2449017"/>
                  <a:pt x="5572228" y="2449017"/>
                </a:cubicBezTo>
                <a:lnTo>
                  <a:pt x="106165" y="2449017"/>
                </a:lnTo>
                <a:cubicBezTo>
                  <a:pt x="47532" y="2449017"/>
                  <a:pt x="0" y="2401485"/>
                  <a:pt x="0" y="2342852"/>
                </a:cubicBezTo>
                <a:lnTo>
                  <a:pt x="0" y="106165"/>
                </a:lnTo>
                <a:cubicBezTo>
                  <a:pt x="0" y="47532"/>
                  <a:pt x="47532" y="0"/>
                  <a:pt x="10616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544" y="3793851"/>
            <a:ext cx="353904" cy="353904"/>
          </a:xfrm>
          <a:custGeom>
            <a:avLst/>
            <a:gdLst/>
            <a:ahLst/>
            <a:cxnLst/>
            <a:rect l="l" t="t" r="r" b="b"/>
            <a:pathLst>
              <a:path w="353904" h="353904">
                <a:moveTo>
                  <a:pt x="70781" y="0"/>
                </a:moveTo>
                <a:lnTo>
                  <a:pt x="283123" y="0"/>
                </a:lnTo>
                <a:cubicBezTo>
                  <a:pt x="322188" y="0"/>
                  <a:pt x="353904" y="31716"/>
                  <a:pt x="353904" y="70781"/>
                </a:cubicBezTo>
                <a:lnTo>
                  <a:pt x="353904" y="283123"/>
                </a:lnTo>
                <a:cubicBezTo>
                  <a:pt x="353904" y="322188"/>
                  <a:pt x="322188" y="353904"/>
                  <a:pt x="283123" y="353904"/>
                </a:cubicBezTo>
                <a:lnTo>
                  <a:pt x="70781" y="353904"/>
                </a:lnTo>
                <a:cubicBezTo>
                  <a:pt x="31716" y="353904"/>
                  <a:pt x="0" y="322188"/>
                  <a:pt x="0" y="28312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0" name="Shape 7"/>
          <p:cNvSpPr/>
          <p:nvPr/>
        </p:nvSpPr>
        <p:spPr>
          <a:xfrm>
            <a:off x="608715" y="3900023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22119" y="44238"/>
                </a:moveTo>
                <a:cubicBezTo>
                  <a:pt x="27013" y="44238"/>
                  <a:pt x="30967" y="48192"/>
                  <a:pt x="30967" y="53086"/>
                </a:cubicBezTo>
                <a:lnTo>
                  <a:pt x="30967" y="123866"/>
                </a:lnTo>
                <a:cubicBezTo>
                  <a:pt x="30967" y="128760"/>
                  <a:pt x="27013" y="132714"/>
                  <a:pt x="22119" y="132714"/>
                </a:cubicBezTo>
                <a:lnTo>
                  <a:pt x="8848" y="132714"/>
                </a:lnTo>
                <a:cubicBezTo>
                  <a:pt x="3954" y="132714"/>
                  <a:pt x="0" y="128760"/>
                  <a:pt x="0" y="123866"/>
                </a:cubicBezTo>
                <a:lnTo>
                  <a:pt x="0" y="53086"/>
                </a:lnTo>
                <a:cubicBezTo>
                  <a:pt x="0" y="48192"/>
                  <a:pt x="3954" y="44238"/>
                  <a:pt x="8848" y="44238"/>
                </a:cubicBezTo>
                <a:lnTo>
                  <a:pt x="22119" y="44238"/>
                </a:lnTo>
                <a:close/>
                <a:moveTo>
                  <a:pt x="74818" y="4424"/>
                </a:moveTo>
                <a:cubicBezTo>
                  <a:pt x="82366" y="4424"/>
                  <a:pt x="88476" y="10534"/>
                  <a:pt x="88476" y="18082"/>
                </a:cubicBezTo>
                <a:lnTo>
                  <a:pt x="88476" y="19244"/>
                </a:lnTo>
                <a:cubicBezTo>
                  <a:pt x="88476" y="21124"/>
                  <a:pt x="88117" y="23004"/>
                  <a:pt x="87425" y="24746"/>
                </a:cubicBezTo>
                <a:lnTo>
                  <a:pt x="79628" y="44238"/>
                </a:lnTo>
                <a:lnTo>
                  <a:pt x="123866" y="44238"/>
                </a:lnTo>
                <a:cubicBezTo>
                  <a:pt x="131193" y="44238"/>
                  <a:pt x="137138" y="50183"/>
                  <a:pt x="137138" y="57509"/>
                </a:cubicBezTo>
                <a:cubicBezTo>
                  <a:pt x="137138" y="62956"/>
                  <a:pt x="133848" y="67629"/>
                  <a:pt x="129147" y="69675"/>
                </a:cubicBezTo>
                <a:cubicBezTo>
                  <a:pt x="133848" y="71721"/>
                  <a:pt x="137138" y="76394"/>
                  <a:pt x="137138" y="81840"/>
                </a:cubicBezTo>
                <a:cubicBezTo>
                  <a:pt x="137138" y="88310"/>
                  <a:pt x="132493" y="93702"/>
                  <a:pt x="126355" y="94863"/>
                </a:cubicBezTo>
                <a:cubicBezTo>
                  <a:pt x="127571" y="96881"/>
                  <a:pt x="128290" y="99231"/>
                  <a:pt x="128290" y="101747"/>
                </a:cubicBezTo>
                <a:cubicBezTo>
                  <a:pt x="128290" y="107885"/>
                  <a:pt x="124143" y="113028"/>
                  <a:pt x="118503" y="114549"/>
                </a:cubicBezTo>
                <a:cubicBezTo>
                  <a:pt x="119111" y="116070"/>
                  <a:pt x="119443" y="117728"/>
                  <a:pt x="119443" y="119443"/>
                </a:cubicBezTo>
                <a:cubicBezTo>
                  <a:pt x="119443" y="126770"/>
                  <a:pt x="113498" y="132714"/>
                  <a:pt x="106171" y="132714"/>
                </a:cubicBezTo>
                <a:lnTo>
                  <a:pt x="81868" y="132714"/>
                </a:lnTo>
                <a:cubicBezTo>
                  <a:pt x="71831" y="132714"/>
                  <a:pt x="62071" y="129286"/>
                  <a:pt x="54247" y="123009"/>
                </a:cubicBezTo>
                <a:lnTo>
                  <a:pt x="50874" y="120327"/>
                </a:lnTo>
                <a:cubicBezTo>
                  <a:pt x="46671" y="116982"/>
                  <a:pt x="44238" y="111895"/>
                  <a:pt x="44238" y="106503"/>
                </a:cubicBezTo>
                <a:lnTo>
                  <a:pt x="44238" y="54910"/>
                </a:lnTo>
                <a:cubicBezTo>
                  <a:pt x="44238" y="50791"/>
                  <a:pt x="45206" y="46726"/>
                  <a:pt x="47031" y="43049"/>
                </a:cubicBezTo>
                <a:lnTo>
                  <a:pt x="62569" y="11972"/>
                </a:lnTo>
                <a:cubicBezTo>
                  <a:pt x="64892" y="7355"/>
                  <a:pt x="69620" y="4424"/>
                  <a:pt x="74818" y="4424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11" name="Text 8"/>
          <p:cNvSpPr/>
          <p:nvPr/>
        </p:nvSpPr>
        <p:spPr>
          <a:xfrm>
            <a:off x="962619" y="3846937"/>
            <a:ext cx="1274055" cy="247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Microsoft Excel</a:t>
            </a:r>
            <a:endParaRPr lang="en-US" sz="1600" dirty="0"/>
          </a:p>
        </p:txBody>
      </p:sp>
      <p:sp>
        <p:nvSpPr>
          <p:cNvPr id="7" name="Text 9"/>
          <p:cNvSpPr/>
          <p:nvPr/>
        </p:nvSpPr>
        <p:spPr>
          <a:xfrm>
            <a:off x="502544" y="4253927"/>
            <a:ext cx="5450125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Преимущества: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2451" y="4501660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53086" y="13271"/>
                </a:moveTo>
                <a:cubicBezTo>
                  <a:pt x="53086" y="9601"/>
                  <a:pt x="50120" y="6636"/>
                  <a:pt x="46450" y="6636"/>
                </a:cubicBezTo>
                <a:cubicBezTo>
                  <a:pt x="42780" y="6636"/>
                  <a:pt x="39814" y="9601"/>
                  <a:pt x="39814" y="13271"/>
                </a:cubicBezTo>
                <a:lnTo>
                  <a:pt x="39814" y="46450"/>
                </a:lnTo>
                <a:lnTo>
                  <a:pt x="6636" y="46450"/>
                </a:lnTo>
                <a:cubicBezTo>
                  <a:pt x="2965" y="46450"/>
                  <a:pt x="0" y="49415"/>
                  <a:pt x="0" y="53086"/>
                </a:cubicBezTo>
                <a:cubicBezTo>
                  <a:pt x="0" y="56756"/>
                  <a:pt x="2965" y="59721"/>
                  <a:pt x="6636" y="59721"/>
                </a:cubicBezTo>
                <a:lnTo>
                  <a:pt x="39814" y="59721"/>
                </a:lnTo>
                <a:lnTo>
                  <a:pt x="39814" y="92900"/>
                </a:lnTo>
                <a:cubicBezTo>
                  <a:pt x="39814" y="96570"/>
                  <a:pt x="42780" y="99536"/>
                  <a:pt x="46450" y="99536"/>
                </a:cubicBezTo>
                <a:cubicBezTo>
                  <a:pt x="50120" y="99536"/>
                  <a:pt x="53086" y="96570"/>
                  <a:pt x="53086" y="92900"/>
                </a:cubicBezTo>
                <a:lnTo>
                  <a:pt x="53086" y="59721"/>
                </a:lnTo>
                <a:lnTo>
                  <a:pt x="86264" y="59721"/>
                </a:lnTo>
                <a:cubicBezTo>
                  <a:pt x="89935" y="59721"/>
                  <a:pt x="92900" y="56756"/>
                  <a:pt x="92900" y="53086"/>
                </a:cubicBezTo>
                <a:cubicBezTo>
                  <a:pt x="92900" y="49415"/>
                  <a:pt x="89935" y="46450"/>
                  <a:pt x="86264" y="46450"/>
                </a:cubicBezTo>
                <a:lnTo>
                  <a:pt x="53086" y="46450"/>
                </a:lnTo>
                <a:lnTo>
                  <a:pt x="53086" y="1327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14" name="Text 11"/>
          <p:cNvSpPr/>
          <p:nvPr/>
        </p:nvSpPr>
        <p:spPr>
          <a:xfrm>
            <a:off x="706039" y="4466269"/>
            <a:ext cx="1477550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Большой объем данных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2451" y="4714002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53086" y="13271"/>
                </a:moveTo>
                <a:cubicBezTo>
                  <a:pt x="53086" y="9601"/>
                  <a:pt x="50120" y="6636"/>
                  <a:pt x="46450" y="6636"/>
                </a:cubicBezTo>
                <a:cubicBezTo>
                  <a:pt x="42780" y="6636"/>
                  <a:pt x="39814" y="9601"/>
                  <a:pt x="39814" y="13271"/>
                </a:cubicBezTo>
                <a:lnTo>
                  <a:pt x="39814" y="46450"/>
                </a:lnTo>
                <a:lnTo>
                  <a:pt x="6636" y="46450"/>
                </a:lnTo>
                <a:cubicBezTo>
                  <a:pt x="2965" y="46450"/>
                  <a:pt x="0" y="49415"/>
                  <a:pt x="0" y="53086"/>
                </a:cubicBezTo>
                <a:cubicBezTo>
                  <a:pt x="0" y="56756"/>
                  <a:pt x="2965" y="59721"/>
                  <a:pt x="6636" y="59721"/>
                </a:cubicBezTo>
                <a:lnTo>
                  <a:pt x="39814" y="59721"/>
                </a:lnTo>
                <a:lnTo>
                  <a:pt x="39814" y="92900"/>
                </a:lnTo>
                <a:cubicBezTo>
                  <a:pt x="39814" y="96570"/>
                  <a:pt x="42780" y="99536"/>
                  <a:pt x="46450" y="99536"/>
                </a:cubicBezTo>
                <a:cubicBezTo>
                  <a:pt x="50120" y="99536"/>
                  <a:pt x="53086" y="96570"/>
                  <a:pt x="53086" y="92900"/>
                </a:cubicBezTo>
                <a:lnTo>
                  <a:pt x="53086" y="59721"/>
                </a:lnTo>
                <a:lnTo>
                  <a:pt x="86264" y="59721"/>
                </a:lnTo>
                <a:cubicBezTo>
                  <a:pt x="89935" y="59721"/>
                  <a:pt x="92900" y="56756"/>
                  <a:pt x="92900" y="53086"/>
                </a:cubicBezTo>
                <a:cubicBezTo>
                  <a:pt x="92900" y="49415"/>
                  <a:pt x="89935" y="46450"/>
                  <a:pt x="86264" y="46450"/>
                </a:cubicBezTo>
                <a:lnTo>
                  <a:pt x="53086" y="46450"/>
                </a:lnTo>
                <a:lnTo>
                  <a:pt x="53086" y="1327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16" name="Text 13"/>
          <p:cNvSpPr/>
          <p:nvPr/>
        </p:nvSpPr>
        <p:spPr>
          <a:xfrm>
            <a:off x="706039" y="4678612"/>
            <a:ext cx="1707588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Много встроенных функций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2451" y="4926345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53086" y="13271"/>
                </a:moveTo>
                <a:cubicBezTo>
                  <a:pt x="53086" y="9601"/>
                  <a:pt x="50120" y="6636"/>
                  <a:pt x="46450" y="6636"/>
                </a:cubicBezTo>
                <a:cubicBezTo>
                  <a:pt x="42780" y="6636"/>
                  <a:pt x="39814" y="9601"/>
                  <a:pt x="39814" y="13271"/>
                </a:cubicBezTo>
                <a:lnTo>
                  <a:pt x="39814" y="46450"/>
                </a:lnTo>
                <a:lnTo>
                  <a:pt x="6636" y="46450"/>
                </a:lnTo>
                <a:cubicBezTo>
                  <a:pt x="2965" y="46450"/>
                  <a:pt x="0" y="49415"/>
                  <a:pt x="0" y="53086"/>
                </a:cubicBezTo>
                <a:cubicBezTo>
                  <a:pt x="0" y="56756"/>
                  <a:pt x="2965" y="59721"/>
                  <a:pt x="6636" y="59721"/>
                </a:cubicBezTo>
                <a:lnTo>
                  <a:pt x="39814" y="59721"/>
                </a:lnTo>
                <a:lnTo>
                  <a:pt x="39814" y="92900"/>
                </a:lnTo>
                <a:cubicBezTo>
                  <a:pt x="39814" y="96570"/>
                  <a:pt x="42780" y="99536"/>
                  <a:pt x="46450" y="99536"/>
                </a:cubicBezTo>
                <a:cubicBezTo>
                  <a:pt x="50120" y="99536"/>
                  <a:pt x="53086" y="96570"/>
                  <a:pt x="53086" y="92900"/>
                </a:cubicBezTo>
                <a:lnTo>
                  <a:pt x="53086" y="59721"/>
                </a:lnTo>
                <a:lnTo>
                  <a:pt x="86264" y="59721"/>
                </a:lnTo>
                <a:cubicBezTo>
                  <a:pt x="89935" y="59721"/>
                  <a:pt x="92900" y="56756"/>
                  <a:pt x="92900" y="53086"/>
                </a:cubicBezTo>
                <a:cubicBezTo>
                  <a:pt x="92900" y="49415"/>
                  <a:pt x="89935" y="46450"/>
                  <a:pt x="86264" y="46450"/>
                </a:cubicBezTo>
                <a:lnTo>
                  <a:pt x="53086" y="46450"/>
                </a:lnTo>
                <a:lnTo>
                  <a:pt x="53086" y="1327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18" name="Text 15"/>
          <p:cNvSpPr/>
          <p:nvPr/>
        </p:nvSpPr>
        <p:spPr>
          <a:xfrm>
            <a:off x="706039" y="4890954"/>
            <a:ext cx="1353684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Визуализация данных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544" y="5138687"/>
            <a:ext cx="5450125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FF6467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Недостатки: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2451" y="5386420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0" y="53086"/>
                </a:moveTo>
                <a:cubicBezTo>
                  <a:pt x="0" y="49415"/>
                  <a:pt x="2965" y="46450"/>
                  <a:pt x="6636" y="46450"/>
                </a:cubicBezTo>
                <a:lnTo>
                  <a:pt x="86264" y="46450"/>
                </a:lnTo>
                <a:cubicBezTo>
                  <a:pt x="89935" y="46450"/>
                  <a:pt x="92900" y="49415"/>
                  <a:pt x="92900" y="53086"/>
                </a:cubicBezTo>
                <a:cubicBezTo>
                  <a:pt x="92900" y="56756"/>
                  <a:pt x="89935" y="59721"/>
                  <a:pt x="86264" y="59721"/>
                </a:cubicBezTo>
                <a:lnTo>
                  <a:pt x="6636" y="59721"/>
                </a:lnTo>
                <a:cubicBezTo>
                  <a:pt x="2965" y="59721"/>
                  <a:pt x="0" y="56756"/>
                  <a:pt x="0" y="530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1" name="Text 18"/>
          <p:cNvSpPr/>
          <p:nvPr/>
        </p:nvSpPr>
        <p:spPr>
          <a:xfrm>
            <a:off x="706039" y="5351030"/>
            <a:ext cx="1176731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Требует установки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2451" y="5598763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0" y="53086"/>
                </a:moveTo>
                <a:cubicBezTo>
                  <a:pt x="0" y="49415"/>
                  <a:pt x="2965" y="46450"/>
                  <a:pt x="6636" y="46450"/>
                </a:cubicBezTo>
                <a:lnTo>
                  <a:pt x="86264" y="46450"/>
                </a:lnTo>
                <a:cubicBezTo>
                  <a:pt x="89935" y="46450"/>
                  <a:pt x="92900" y="49415"/>
                  <a:pt x="92900" y="53086"/>
                </a:cubicBezTo>
                <a:cubicBezTo>
                  <a:pt x="92900" y="56756"/>
                  <a:pt x="89935" y="59721"/>
                  <a:pt x="86264" y="59721"/>
                </a:cubicBezTo>
                <a:lnTo>
                  <a:pt x="6636" y="59721"/>
                </a:lnTo>
                <a:cubicBezTo>
                  <a:pt x="2965" y="59721"/>
                  <a:pt x="0" y="56756"/>
                  <a:pt x="0" y="530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3" name="Text 20"/>
          <p:cNvSpPr/>
          <p:nvPr/>
        </p:nvSpPr>
        <p:spPr>
          <a:xfrm>
            <a:off x="706039" y="5563372"/>
            <a:ext cx="1751826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Сложность для начинающих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22451" y="5811105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0" y="53086"/>
                </a:moveTo>
                <a:cubicBezTo>
                  <a:pt x="0" y="49415"/>
                  <a:pt x="2965" y="46450"/>
                  <a:pt x="6636" y="46450"/>
                </a:cubicBezTo>
                <a:lnTo>
                  <a:pt x="86264" y="46450"/>
                </a:lnTo>
                <a:cubicBezTo>
                  <a:pt x="89935" y="46450"/>
                  <a:pt x="92900" y="49415"/>
                  <a:pt x="92900" y="53086"/>
                </a:cubicBezTo>
                <a:cubicBezTo>
                  <a:pt x="92900" y="56756"/>
                  <a:pt x="89935" y="59721"/>
                  <a:pt x="86264" y="59721"/>
                </a:cubicBezTo>
                <a:lnTo>
                  <a:pt x="6636" y="59721"/>
                </a:lnTo>
                <a:cubicBezTo>
                  <a:pt x="2965" y="59721"/>
                  <a:pt x="0" y="56756"/>
                  <a:pt x="0" y="530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25" name="Text 22"/>
          <p:cNvSpPr/>
          <p:nvPr/>
        </p:nvSpPr>
        <p:spPr>
          <a:xfrm>
            <a:off x="706039" y="5775715"/>
            <a:ext cx="1468702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Много лишних функций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51629" y="3648752"/>
            <a:ext cx="5678393" cy="2449017"/>
          </a:xfrm>
          <a:custGeom>
            <a:avLst/>
            <a:gdLst/>
            <a:ahLst/>
            <a:cxnLst/>
            <a:rect l="l" t="t" r="r" b="b"/>
            <a:pathLst>
              <a:path w="5678393" h="2449017">
                <a:moveTo>
                  <a:pt x="106165" y="0"/>
                </a:moveTo>
                <a:lnTo>
                  <a:pt x="5572228" y="0"/>
                </a:lnTo>
                <a:cubicBezTo>
                  <a:pt x="5630861" y="0"/>
                  <a:pt x="5678393" y="47532"/>
                  <a:pt x="5678393" y="106165"/>
                </a:cubicBezTo>
                <a:lnTo>
                  <a:pt x="5678393" y="2342852"/>
                </a:lnTo>
                <a:cubicBezTo>
                  <a:pt x="5678393" y="2401485"/>
                  <a:pt x="5630861" y="2449017"/>
                  <a:pt x="5572228" y="2449017"/>
                </a:cubicBezTo>
                <a:lnTo>
                  <a:pt x="106165" y="2449017"/>
                </a:lnTo>
                <a:cubicBezTo>
                  <a:pt x="47532" y="2449017"/>
                  <a:pt x="0" y="2401485"/>
                  <a:pt x="0" y="2342852"/>
                </a:cubicBezTo>
                <a:lnTo>
                  <a:pt x="0" y="106165"/>
                </a:lnTo>
                <a:cubicBezTo>
                  <a:pt x="0" y="47532"/>
                  <a:pt x="47532" y="0"/>
                  <a:pt x="10616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016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96730" y="3793851"/>
            <a:ext cx="353904" cy="353904"/>
          </a:xfrm>
          <a:custGeom>
            <a:avLst/>
            <a:gdLst/>
            <a:ahLst/>
            <a:cxnLst/>
            <a:rect l="l" t="t" r="r" b="b"/>
            <a:pathLst>
              <a:path w="353904" h="353904">
                <a:moveTo>
                  <a:pt x="70781" y="0"/>
                </a:moveTo>
                <a:lnTo>
                  <a:pt x="283123" y="0"/>
                </a:lnTo>
                <a:cubicBezTo>
                  <a:pt x="322188" y="0"/>
                  <a:pt x="353904" y="31716"/>
                  <a:pt x="353904" y="70781"/>
                </a:cubicBezTo>
                <a:lnTo>
                  <a:pt x="353904" y="283123"/>
                </a:lnTo>
                <a:cubicBezTo>
                  <a:pt x="353904" y="322188"/>
                  <a:pt x="322188" y="353904"/>
                  <a:pt x="283123" y="353904"/>
                </a:cubicBezTo>
                <a:lnTo>
                  <a:pt x="70781" y="353904"/>
                </a:lnTo>
                <a:cubicBezTo>
                  <a:pt x="31716" y="353904"/>
                  <a:pt x="0" y="322188"/>
                  <a:pt x="0" y="283123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8" name="Shape 25"/>
          <p:cNvSpPr/>
          <p:nvPr/>
        </p:nvSpPr>
        <p:spPr>
          <a:xfrm>
            <a:off x="6402901" y="3900023"/>
            <a:ext cx="141562" cy="141562"/>
          </a:xfrm>
          <a:custGeom>
            <a:avLst/>
            <a:gdLst/>
            <a:ahLst/>
            <a:cxnLst/>
            <a:rect l="l" t="t" r="r" b="b"/>
            <a:pathLst>
              <a:path w="141562" h="141562">
                <a:moveTo>
                  <a:pt x="97296" y="77417"/>
                </a:moveTo>
                <a:lnTo>
                  <a:pt x="44515" y="77417"/>
                </a:lnTo>
                <a:cubicBezTo>
                  <a:pt x="45316" y="95250"/>
                  <a:pt x="49270" y="111673"/>
                  <a:pt x="54883" y="123701"/>
                </a:cubicBezTo>
                <a:cubicBezTo>
                  <a:pt x="58035" y="130475"/>
                  <a:pt x="61436" y="135258"/>
                  <a:pt x="64588" y="138189"/>
                </a:cubicBezTo>
                <a:cubicBezTo>
                  <a:pt x="67684" y="141092"/>
                  <a:pt x="69813" y="141562"/>
                  <a:pt x="70919" y="141562"/>
                </a:cubicBezTo>
                <a:cubicBezTo>
                  <a:pt x="72025" y="141562"/>
                  <a:pt x="74154" y="141092"/>
                  <a:pt x="77251" y="138189"/>
                </a:cubicBezTo>
                <a:cubicBezTo>
                  <a:pt x="80403" y="135258"/>
                  <a:pt x="83803" y="130447"/>
                  <a:pt x="86955" y="123701"/>
                </a:cubicBezTo>
                <a:cubicBezTo>
                  <a:pt x="92568" y="111673"/>
                  <a:pt x="96522" y="95250"/>
                  <a:pt x="97324" y="77417"/>
                </a:cubicBezTo>
                <a:close/>
                <a:moveTo>
                  <a:pt x="44487" y="64145"/>
                </a:moveTo>
                <a:lnTo>
                  <a:pt x="97268" y="64145"/>
                </a:lnTo>
                <a:cubicBezTo>
                  <a:pt x="96494" y="46312"/>
                  <a:pt x="92540" y="29888"/>
                  <a:pt x="86928" y="17861"/>
                </a:cubicBezTo>
                <a:cubicBezTo>
                  <a:pt x="83776" y="11115"/>
                  <a:pt x="80375" y="6304"/>
                  <a:pt x="77223" y="3373"/>
                </a:cubicBezTo>
                <a:cubicBezTo>
                  <a:pt x="74126" y="470"/>
                  <a:pt x="71997" y="0"/>
                  <a:pt x="70891" y="0"/>
                </a:cubicBezTo>
                <a:cubicBezTo>
                  <a:pt x="69785" y="0"/>
                  <a:pt x="67657" y="470"/>
                  <a:pt x="64560" y="3373"/>
                </a:cubicBezTo>
                <a:cubicBezTo>
                  <a:pt x="61408" y="6304"/>
                  <a:pt x="58007" y="11115"/>
                  <a:pt x="54855" y="17861"/>
                </a:cubicBezTo>
                <a:cubicBezTo>
                  <a:pt x="49242" y="29888"/>
                  <a:pt x="45289" y="46312"/>
                  <a:pt x="44487" y="64145"/>
                </a:cubicBezTo>
                <a:close/>
                <a:moveTo>
                  <a:pt x="31215" y="64145"/>
                </a:moveTo>
                <a:cubicBezTo>
                  <a:pt x="32183" y="40478"/>
                  <a:pt x="38294" y="18497"/>
                  <a:pt x="47224" y="4064"/>
                </a:cubicBezTo>
                <a:cubicBezTo>
                  <a:pt x="21760" y="13078"/>
                  <a:pt x="3014" y="36275"/>
                  <a:pt x="415" y="64145"/>
                </a:cubicBezTo>
                <a:lnTo>
                  <a:pt x="31215" y="64145"/>
                </a:lnTo>
                <a:close/>
                <a:moveTo>
                  <a:pt x="415" y="77417"/>
                </a:moveTo>
                <a:cubicBezTo>
                  <a:pt x="3014" y="105287"/>
                  <a:pt x="21760" y="128484"/>
                  <a:pt x="47224" y="137497"/>
                </a:cubicBezTo>
                <a:cubicBezTo>
                  <a:pt x="38294" y="123065"/>
                  <a:pt x="32183" y="101084"/>
                  <a:pt x="31215" y="77417"/>
                </a:cubicBezTo>
                <a:lnTo>
                  <a:pt x="415" y="77417"/>
                </a:lnTo>
                <a:close/>
                <a:moveTo>
                  <a:pt x="110567" y="77417"/>
                </a:moveTo>
                <a:cubicBezTo>
                  <a:pt x="109600" y="101084"/>
                  <a:pt x="103489" y="123065"/>
                  <a:pt x="94559" y="137497"/>
                </a:cubicBezTo>
                <a:cubicBezTo>
                  <a:pt x="120023" y="128456"/>
                  <a:pt x="138769" y="105287"/>
                  <a:pt x="141368" y="77417"/>
                </a:cubicBezTo>
                <a:lnTo>
                  <a:pt x="110567" y="77417"/>
                </a:lnTo>
                <a:close/>
                <a:moveTo>
                  <a:pt x="141368" y="64145"/>
                </a:moveTo>
                <a:cubicBezTo>
                  <a:pt x="138769" y="36275"/>
                  <a:pt x="120023" y="13078"/>
                  <a:pt x="94559" y="4064"/>
                </a:cubicBezTo>
                <a:cubicBezTo>
                  <a:pt x="103489" y="18497"/>
                  <a:pt x="109600" y="40478"/>
                  <a:pt x="110567" y="64145"/>
                </a:cubicBezTo>
                <a:lnTo>
                  <a:pt x="141368" y="64145"/>
                </a:lnTo>
                <a:close/>
              </a:path>
            </a:pathLst>
          </a:custGeom>
          <a:solidFill>
            <a:srgbClr val="ECEFF4"/>
          </a:solidFill>
        </p:spPr>
      </p:sp>
      <p:sp>
        <p:nvSpPr>
          <p:cNvPr id="29" name="Text 26"/>
          <p:cNvSpPr/>
          <p:nvPr/>
        </p:nvSpPr>
        <p:spPr>
          <a:xfrm>
            <a:off x="6756806" y="3846937"/>
            <a:ext cx="1442160" cy="247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5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Online Calculator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296730" y="4253927"/>
            <a:ext cx="5450125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5E81AC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Преимущества: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16637" y="4501660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53086" y="13271"/>
                </a:moveTo>
                <a:cubicBezTo>
                  <a:pt x="53086" y="9601"/>
                  <a:pt x="50120" y="6636"/>
                  <a:pt x="46450" y="6636"/>
                </a:cubicBezTo>
                <a:cubicBezTo>
                  <a:pt x="42780" y="6636"/>
                  <a:pt x="39814" y="9601"/>
                  <a:pt x="39814" y="13271"/>
                </a:cubicBezTo>
                <a:lnTo>
                  <a:pt x="39814" y="46450"/>
                </a:lnTo>
                <a:lnTo>
                  <a:pt x="6636" y="46450"/>
                </a:lnTo>
                <a:cubicBezTo>
                  <a:pt x="2965" y="46450"/>
                  <a:pt x="0" y="49415"/>
                  <a:pt x="0" y="53086"/>
                </a:cubicBezTo>
                <a:cubicBezTo>
                  <a:pt x="0" y="56756"/>
                  <a:pt x="2965" y="59721"/>
                  <a:pt x="6636" y="59721"/>
                </a:cubicBezTo>
                <a:lnTo>
                  <a:pt x="39814" y="59721"/>
                </a:lnTo>
                <a:lnTo>
                  <a:pt x="39814" y="92900"/>
                </a:lnTo>
                <a:cubicBezTo>
                  <a:pt x="39814" y="96570"/>
                  <a:pt x="42780" y="99536"/>
                  <a:pt x="46450" y="99536"/>
                </a:cubicBezTo>
                <a:cubicBezTo>
                  <a:pt x="50120" y="99536"/>
                  <a:pt x="53086" y="96570"/>
                  <a:pt x="53086" y="92900"/>
                </a:cubicBezTo>
                <a:lnTo>
                  <a:pt x="53086" y="59721"/>
                </a:lnTo>
                <a:lnTo>
                  <a:pt x="86264" y="59721"/>
                </a:lnTo>
                <a:cubicBezTo>
                  <a:pt x="89935" y="59721"/>
                  <a:pt x="92900" y="56756"/>
                  <a:pt x="92900" y="53086"/>
                </a:cubicBezTo>
                <a:cubicBezTo>
                  <a:pt x="92900" y="49415"/>
                  <a:pt x="89935" y="46450"/>
                  <a:pt x="86264" y="46450"/>
                </a:cubicBezTo>
                <a:lnTo>
                  <a:pt x="53086" y="46450"/>
                </a:lnTo>
                <a:lnTo>
                  <a:pt x="53086" y="1327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32" name="Text 29"/>
          <p:cNvSpPr/>
          <p:nvPr/>
        </p:nvSpPr>
        <p:spPr>
          <a:xfrm>
            <a:off x="6500225" y="4466269"/>
            <a:ext cx="1539483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Простота использования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16637" y="4714002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53086" y="13271"/>
                </a:moveTo>
                <a:cubicBezTo>
                  <a:pt x="53086" y="9601"/>
                  <a:pt x="50120" y="6636"/>
                  <a:pt x="46450" y="6636"/>
                </a:cubicBezTo>
                <a:cubicBezTo>
                  <a:pt x="42780" y="6636"/>
                  <a:pt x="39814" y="9601"/>
                  <a:pt x="39814" y="13271"/>
                </a:cubicBezTo>
                <a:lnTo>
                  <a:pt x="39814" y="46450"/>
                </a:lnTo>
                <a:lnTo>
                  <a:pt x="6636" y="46450"/>
                </a:lnTo>
                <a:cubicBezTo>
                  <a:pt x="2965" y="46450"/>
                  <a:pt x="0" y="49415"/>
                  <a:pt x="0" y="53086"/>
                </a:cubicBezTo>
                <a:cubicBezTo>
                  <a:pt x="0" y="56756"/>
                  <a:pt x="2965" y="59721"/>
                  <a:pt x="6636" y="59721"/>
                </a:cubicBezTo>
                <a:lnTo>
                  <a:pt x="39814" y="59721"/>
                </a:lnTo>
                <a:lnTo>
                  <a:pt x="39814" y="92900"/>
                </a:lnTo>
                <a:cubicBezTo>
                  <a:pt x="39814" y="96570"/>
                  <a:pt x="42780" y="99536"/>
                  <a:pt x="46450" y="99536"/>
                </a:cubicBezTo>
                <a:cubicBezTo>
                  <a:pt x="50120" y="99536"/>
                  <a:pt x="53086" y="96570"/>
                  <a:pt x="53086" y="92900"/>
                </a:cubicBezTo>
                <a:lnTo>
                  <a:pt x="53086" y="59721"/>
                </a:lnTo>
                <a:lnTo>
                  <a:pt x="86264" y="59721"/>
                </a:lnTo>
                <a:cubicBezTo>
                  <a:pt x="89935" y="59721"/>
                  <a:pt x="92900" y="56756"/>
                  <a:pt x="92900" y="53086"/>
                </a:cubicBezTo>
                <a:cubicBezTo>
                  <a:pt x="92900" y="49415"/>
                  <a:pt x="89935" y="46450"/>
                  <a:pt x="86264" y="46450"/>
                </a:cubicBezTo>
                <a:lnTo>
                  <a:pt x="53086" y="46450"/>
                </a:lnTo>
                <a:lnTo>
                  <a:pt x="53086" y="1327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34" name="Text 31"/>
          <p:cNvSpPr/>
          <p:nvPr/>
        </p:nvSpPr>
        <p:spPr>
          <a:xfrm>
            <a:off x="6500225" y="4678612"/>
            <a:ext cx="1353684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 требует установки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16637" y="4926345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53086" y="13271"/>
                </a:moveTo>
                <a:cubicBezTo>
                  <a:pt x="53086" y="9601"/>
                  <a:pt x="50120" y="6636"/>
                  <a:pt x="46450" y="6636"/>
                </a:cubicBezTo>
                <a:cubicBezTo>
                  <a:pt x="42780" y="6636"/>
                  <a:pt x="39814" y="9601"/>
                  <a:pt x="39814" y="13271"/>
                </a:cubicBezTo>
                <a:lnTo>
                  <a:pt x="39814" y="46450"/>
                </a:lnTo>
                <a:lnTo>
                  <a:pt x="6636" y="46450"/>
                </a:lnTo>
                <a:cubicBezTo>
                  <a:pt x="2965" y="46450"/>
                  <a:pt x="0" y="49415"/>
                  <a:pt x="0" y="53086"/>
                </a:cubicBezTo>
                <a:cubicBezTo>
                  <a:pt x="0" y="56756"/>
                  <a:pt x="2965" y="59721"/>
                  <a:pt x="6636" y="59721"/>
                </a:cubicBezTo>
                <a:lnTo>
                  <a:pt x="39814" y="59721"/>
                </a:lnTo>
                <a:lnTo>
                  <a:pt x="39814" y="92900"/>
                </a:lnTo>
                <a:cubicBezTo>
                  <a:pt x="39814" y="96570"/>
                  <a:pt x="42780" y="99536"/>
                  <a:pt x="46450" y="99536"/>
                </a:cubicBezTo>
                <a:cubicBezTo>
                  <a:pt x="50120" y="99536"/>
                  <a:pt x="53086" y="96570"/>
                  <a:pt x="53086" y="92900"/>
                </a:cubicBezTo>
                <a:lnTo>
                  <a:pt x="53086" y="59721"/>
                </a:lnTo>
                <a:lnTo>
                  <a:pt x="86264" y="59721"/>
                </a:lnTo>
                <a:cubicBezTo>
                  <a:pt x="89935" y="59721"/>
                  <a:pt x="92900" y="56756"/>
                  <a:pt x="92900" y="53086"/>
                </a:cubicBezTo>
                <a:cubicBezTo>
                  <a:pt x="92900" y="49415"/>
                  <a:pt x="89935" y="46450"/>
                  <a:pt x="86264" y="46450"/>
                </a:cubicBezTo>
                <a:lnTo>
                  <a:pt x="53086" y="46450"/>
                </a:lnTo>
                <a:lnTo>
                  <a:pt x="53086" y="13271"/>
                </a:lnTo>
                <a:close/>
              </a:path>
            </a:pathLst>
          </a:custGeom>
          <a:solidFill>
            <a:srgbClr val="05DF72"/>
          </a:solidFill>
        </p:spPr>
      </p:sp>
      <p:sp>
        <p:nvSpPr>
          <p:cNvPr id="36" name="Text 33"/>
          <p:cNvSpPr/>
          <p:nvPr/>
        </p:nvSpPr>
        <p:spPr>
          <a:xfrm>
            <a:off x="6500225" y="4890954"/>
            <a:ext cx="1335988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Быстрые вычисления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296730" y="5138687"/>
            <a:ext cx="5450125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b="1" dirty="0">
                <a:solidFill>
                  <a:srgbClr val="FF6467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Недостатки: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16637" y="5386420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0" y="53086"/>
                </a:moveTo>
                <a:cubicBezTo>
                  <a:pt x="0" y="49415"/>
                  <a:pt x="2965" y="46450"/>
                  <a:pt x="6636" y="46450"/>
                </a:cubicBezTo>
                <a:lnTo>
                  <a:pt x="86264" y="46450"/>
                </a:lnTo>
                <a:cubicBezTo>
                  <a:pt x="89935" y="46450"/>
                  <a:pt x="92900" y="49415"/>
                  <a:pt x="92900" y="53086"/>
                </a:cubicBezTo>
                <a:cubicBezTo>
                  <a:pt x="92900" y="56756"/>
                  <a:pt x="89935" y="59721"/>
                  <a:pt x="86264" y="59721"/>
                </a:cubicBezTo>
                <a:lnTo>
                  <a:pt x="6636" y="59721"/>
                </a:lnTo>
                <a:cubicBezTo>
                  <a:pt x="2965" y="59721"/>
                  <a:pt x="0" y="56756"/>
                  <a:pt x="0" y="530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39" name="Text 36"/>
          <p:cNvSpPr/>
          <p:nvPr/>
        </p:nvSpPr>
        <p:spPr>
          <a:xfrm>
            <a:off x="6500225" y="5351030"/>
            <a:ext cx="1689893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Ограниченный функционал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16637" y="5598763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0" y="53086"/>
                </a:moveTo>
                <a:cubicBezTo>
                  <a:pt x="0" y="49415"/>
                  <a:pt x="2965" y="46450"/>
                  <a:pt x="6636" y="46450"/>
                </a:cubicBezTo>
                <a:lnTo>
                  <a:pt x="86264" y="46450"/>
                </a:lnTo>
                <a:cubicBezTo>
                  <a:pt x="89935" y="46450"/>
                  <a:pt x="92900" y="49415"/>
                  <a:pt x="92900" y="53086"/>
                </a:cubicBezTo>
                <a:cubicBezTo>
                  <a:pt x="92900" y="56756"/>
                  <a:pt x="89935" y="59721"/>
                  <a:pt x="86264" y="59721"/>
                </a:cubicBezTo>
                <a:lnTo>
                  <a:pt x="6636" y="59721"/>
                </a:lnTo>
                <a:cubicBezTo>
                  <a:pt x="2965" y="59721"/>
                  <a:pt x="0" y="56756"/>
                  <a:pt x="0" y="530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41" name="Text 38"/>
          <p:cNvSpPr/>
          <p:nvPr/>
        </p:nvSpPr>
        <p:spPr>
          <a:xfrm>
            <a:off x="6500225" y="5563372"/>
            <a:ext cx="1760673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Нет сохранения результатов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16637" y="5811105"/>
            <a:ext cx="92900" cy="106171"/>
          </a:xfrm>
          <a:custGeom>
            <a:avLst/>
            <a:gdLst/>
            <a:ahLst/>
            <a:cxnLst/>
            <a:rect l="l" t="t" r="r" b="b"/>
            <a:pathLst>
              <a:path w="92900" h="106171">
                <a:moveTo>
                  <a:pt x="0" y="53086"/>
                </a:moveTo>
                <a:cubicBezTo>
                  <a:pt x="0" y="49415"/>
                  <a:pt x="2965" y="46450"/>
                  <a:pt x="6636" y="46450"/>
                </a:cubicBezTo>
                <a:lnTo>
                  <a:pt x="86264" y="46450"/>
                </a:lnTo>
                <a:cubicBezTo>
                  <a:pt x="89935" y="46450"/>
                  <a:pt x="92900" y="49415"/>
                  <a:pt x="92900" y="53086"/>
                </a:cubicBezTo>
                <a:cubicBezTo>
                  <a:pt x="92900" y="56756"/>
                  <a:pt x="89935" y="59721"/>
                  <a:pt x="86264" y="59721"/>
                </a:cubicBezTo>
                <a:lnTo>
                  <a:pt x="6636" y="59721"/>
                </a:lnTo>
                <a:cubicBezTo>
                  <a:pt x="2965" y="59721"/>
                  <a:pt x="0" y="56756"/>
                  <a:pt x="0" y="53086"/>
                </a:cubicBezTo>
                <a:close/>
              </a:path>
            </a:pathLst>
          </a:custGeom>
          <a:solidFill>
            <a:srgbClr val="FF6467"/>
          </a:solidFill>
        </p:spPr>
      </p:sp>
      <p:sp>
        <p:nvSpPr>
          <p:cNvPr id="43" name="Text 40"/>
          <p:cNvSpPr/>
          <p:nvPr/>
        </p:nvSpPr>
        <p:spPr>
          <a:xfrm>
            <a:off x="6500225" y="5775715"/>
            <a:ext cx="1495245" cy="176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Нет гибкости настройки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57443" y="6211024"/>
            <a:ext cx="11473574" cy="644106"/>
          </a:xfrm>
          <a:custGeom>
            <a:avLst/>
            <a:gdLst/>
            <a:ahLst/>
            <a:cxnLst/>
            <a:rect l="l" t="t" r="r" b="b"/>
            <a:pathLst>
              <a:path w="11473574" h="644106">
                <a:moveTo>
                  <a:pt x="70781" y="0"/>
                </a:moveTo>
                <a:lnTo>
                  <a:pt x="11402794" y="0"/>
                </a:lnTo>
                <a:cubicBezTo>
                  <a:pt x="11441885" y="0"/>
                  <a:pt x="11473574" y="31690"/>
                  <a:pt x="11473574" y="70781"/>
                </a:cubicBezTo>
                <a:lnTo>
                  <a:pt x="11473574" y="573325"/>
                </a:lnTo>
                <a:cubicBezTo>
                  <a:pt x="11473574" y="612416"/>
                  <a:pt x="11441885" y="644106"/>
                  <a:pt x="11402794" y="644106"/>
                </a:cubicBezTo>
                <a:lnTo>
                  <a:pt x="70781" y="644106"/>
                </a:lnTo>
                <a:cubicBezTo>
                  <a:pt x="31690" y="644106"/>
                  <a:pt x="0" y="612416"/>
                  <a:pt x="0" y="573325"/>
                </a:cubicBezTo>
                <a:lnTo>
                  <a:pt x="0" y="70781"/>
                </a:lnTo>
                <a:cubicBezTo>
                  <a:pt x="0" y="31716"/>
                  <a:pt x="31716" y="0"/>
                  <a:pt x="70781" y="0"/>
                </a:cubicBezTo>
                <a:close/>
              </a:path>
            </a:pathLst>
          </a:custGeom>
          <a:solidFill>
            <a:srgbClr val="5E81AC">
              <a:alpha val="10196"/>
            </a:srgbClr>
          </a:solidFill>
          <a:ln w="10160">
            <a:solidFill>
              <a:srgbClr val="5E81AC">
                <a:alpha val="3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76001" y="6356123"/>
            <a:ext cx="159257" cy="141562"/>
          </a:xfrm>
          <a:custGeom>
            <a:avLst/>
            <a:gdLst/>
            <a:ahLst/>
            <a:cxnLst/>
            <a:rect l="l" t="t" r="r" b="b"/>
            <a:pathLst>
              <a:path w="159257" h="141562">
                <a:moveTo>
                  <a:pt x="85573" y="-5226"/>
                </a:moveTo>
                <a:cubicBezTo>
                  <a:pt x="84439" y="-7438"/>
                  <a:pt x="82144" y="-8848"/>
                  <a:pt x="79656" y="-8848"/>
                </a:cubicBezTo>
                <a:cubicBezTo>
                  <a:pt x="77168" y="-8848"/>
                  <a:pt x="74873" y="-7438"/>
                  <a:pt x="73739" y="-5226"/>
                </a:cubicBezTo>
                <a:lnTo>
                  <a:pt x="53390" y="34644"/>
                </a:lnTo>
                <a:lnTo>
                  <a:pt x="9179" y="41667"/>
                </a:lnTo>
                <a:cubicBezTo>
                  <a:pt x="6719" y="42054"/>
                  <a:pt x="4673" y="43796"/>
                  <a:pt x="3898" y="46173"/>
                </a:cubicBezTo>
                <a:cubicBezTo>
                  <a:pt x="3124" y="48551"/>
                  <a:pt x="3760" y="51150"/>
                  <a:pt x="5502" y="52920"/>
                </a:cubicBezTo>
                <a:lnTo>
                  <a:pt x="37132" y="84578"/>
                </a:lnTo>
                <a:lnTo>
                  <a:pt x="30165" y="128788"/>
                </a:lnTo>
                <a:cubicBezTo>
                  <a:pt x="29778" y="131249"/>
                  <a:pt x="30801" y="133737"/>
                  <a:pt x="32819" y="135202"/>
                </a:cubicBezTo>
                <a:cubicBezTo>
                  <a:pt x="34837" y="136668"/>
                  <a:pt x="37492" y="136889"/>
                  <a:pt x="39731" y="135755"/>
                </a:cubicBezTo>
                <a:lnTo>
                  <a:pt x="79656" y="115461"/>
                </a:lnTo>
                <a:lnTo>
                  <a:pt x="119553" y="135755"/>
                </a:lnTo>
                <a:cubicBezTo>
                  <a:pt x="121765" y="136889"/>
                  <a:pt x="124447" y="136668"/>
                  <a:pt x="126465" y="135202"/>
                </a:cubicBezTo>
                <a:cubicBezTo>
                  <a:pt x="128484" y="133737"/>
                  <a:pt x="129507" y="131276"/>
                  <a:pt x="129120" y="128788"/>
                </a:cubicBezTo>
                <a:lnTo>
                  <a:pt x="122125" y="84578"/>
                </a:lnTo>
                <a:lnTo>
                  <a:pt x="153755" y="52920"/>
                </a:lnTo>
                <a:cubicBezTo>
                  <a:pt x="155524" y="51150"/>
                  <a:pt x="156133" y="48551"/>
                  <a:pt x="155358" y="46173"/>
                </a:cubicBezTo>
                <a:cubicBezTo>
                  <a:pt x="154584" y="43796"/>
                  <a:pt x="152566" y="42054"/>
                  <a:pt x="150078" y="41667"/>
                </a:cubicBezTo>
                <a:lnTo>
                  <a:pt x="105895" y="34644"/>
                </a:lnTo>
                <a:lnTo>
                  <a:pt x="85573" y="-5226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46" name="Text 43"/>
          <p:cNvSpPr/>
          <p:nvPr/>
        </p:nvSpPr>
        <p:spPr>
          <a:xfrm>
            <a:off x="693416" y="6320733"/>
            <a:ext cx="11098672" cy="4246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5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Уникальность моей программы:</a:t>
            </a:r>
            <a:r>
              <a:rPr lang="en-US" sz="1115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сочетание статистического анализа и преобразования систем счисления в одном инструменте с возможностью сохранения результатов.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0cc8516a4e490389f2904c3f94a9a1f90a80ee0.jpg"/>
          <p:cNvPicPr>
            <a:picLocks noChangeAspect="1"/>
          </p:cNvPicPr>
          <p:nvPr/>
        </p:nvPicPr>
        <p:blipFill>
          <a:blip r:embed="rId1">
            <a:alphaModFix amt="20000"/>
          </a:blip>
          <a:srcRect l="3111" r="311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5E81AC">
                  <a:alpha val="30000"/>
                </a:srgbClr>
              </a:gs>
            </a:gsLst>
            <a:lin ang="2700000" scaled="1"/>
          </a:gradFill>
        </p:spPr>
      </p:sp>
      <p:sp>
        <p:nvSpPr>
          <p:cNvPr id="6" name="Text 3"/>
          <p:cNvSpPr/>
          <p:nvPr/>
        </p:nvSpPr>
        <p:spPr>
          <a:xfrm>
            <a:off x="838200" y="1340169"/>
            <a:ext cx="10744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Итоги проекта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2010" y="2029779"/>
            <a:ext cx="5132070" cy="2446020"/>
          </a:xfrm>
          <a:custGeom>
            <a:avLst/>
            <a:gdLst/>
            <a:ahLst/>
            <a:cxnLst/>
            <a:rect l="l" t="t" r="r" b="b"/>
            <a:pathLst>
              <a:path w="5132070" h="2446020">
                <a:moveTo>
                  <a:pt x="114303" y="0"/>
                </a:moveTo>
                <a:lnTo>
                  <a:pt x="5017767" y="0"/>
                </a:lnTo>
                <a:cubicBezTo>
                  <a:pt x="5080895" y="0"/>
                  <a:pt x="5132070" y="51175"/>
                  <a:pt x="5132070" y="114303"/>
                </a:cubicBezTo>
                <a:lnTo>
                  <a:pt x="5132070" y="2331717"/>
                </a:lnTo>
                <a:cubicBezTo>
                  <a:pt x="5132070" y="2394845"/>
                  <a:pt x="5080895" y="2446020"/>
                  <a:pt x="50177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4420" y="22621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9" name="Shape 6"/>
          <p:cNvSpPr/>
          <p:nvPr/>
        </p:nvSpPr>
        <p:spPr>
          <a:xfrm>
            <a:off x="1188720" y="23764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10" name="Text 7"/>
          <p:cNvSpPr/>
          <p:nvPr/>
        </p:nvSpPr>
        <p:spPr>
          <a:xfrm>
            <a:off x="1645920" y="2338705"/>
            <a:ext cx="368109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Выполненные задачи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02995" y="29098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2" name="Text 9"/>
          <p:cNvSpPr/>
          <p:nvPr/>
        </p:nvSpPr>
        <p:spPr>
          <a:xfrm>
            <a:off x="1379220" y="2871788"/>
            <a:ext cx="44386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Была разработана программа для статистического анализа числовых данных и преобразования систем счисления.</a:t>
            </a:r>
            <a:endParaRPr lang="en-US" sz="1200" dirty="0">
              <a:solidFill>
                <a:srgbClr val="ECEFF4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102995" y="34813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4" name="Text 11"/>
          <p:cNvSpPr/>
          <p:nvPr/>
        </p:nvSpPr>
        <p:spPr>
          <a:xfrm>
            <a:off x="1379220" y="3443288"/>
            <a:ext cx="44386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Реализовано преобразование между системами счисления 2/10/16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02995" y="40528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6" name="Text 13"/>
          <p:cNvSpPr/>
          <p:nvPr/>
        </p:nvSpPr>
        <p:spPr>
          <a:xfrm>
            <a:off x="1379220" y="4014788"/>
            <a:ext cx="3524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Все поставленные задачи успешно выполнены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4110" y="2029779"/>
            <a:ext cx="5132070" cy="2446020"/>
          </a:xfrm>
          <a:custGeom>
            <a:avLst/>
            <a:gdLst/>
            <a:ahLst/>
            <a:cxnLst/>
            <a:rect l="l" t="t" r="r" b="b"/>
            <a:pathLst>
              <a:path w="5132070" h="2446020">
                <a:moveTo>
                  <a:pt x="114303" y="0"/>
                </a:moveTo>
                <a:lnTo>
                  <a:pt x="5017767" y="0"/>
                </a:lnTo>
                <a:cubicBezTo>
                  <a:pt x="5080895" y="0"/>
                  <a:pt x="5132070" y="51175"/>
                  <a:pt x="5132070" y="114303"/>
                </a:cubicBezTo>
                <a:lnTo>
                  <a:pt x="5132070" y="2331717"/>
                </a:lnTo>
                <a:cubicBezTo>
                  <a:pt x="5132070" y="2394845"/>
                  <a:pt x="5080895" y="2446020"/>
                  <a:pt x="5017767" y="2446020"/>
                </a:cubicBezTo>
                <a:lnTo>
                  <a:pt x="114303" y="2446020"/>
                </a:lnTo>
                <a:cubicBezTo>
                  <a:pt x="51175" y="2446020"/>
                  <a:pt x="0" y="2394845"/>
                  <a:pt x="0" y="23317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016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22621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19" name="Shape 16"/>
          <p:cNvSpPr/>
          <p:nvPr/>
        </p:nvSpPr>
        <p:spPr>
          <a:xfrm>
            <a:off x="6575107" y="2376488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9791" y="-11564"/>
                </a:moveTo>
                <a:cubicBezTo>
                  <a:pt x="103808" y="-15225"/>
                  <a:pt x="96262" y="-15225"/>
                  <a:pt x="90279" y="-11564"/>
                </a:cubicBezTo>
                <a:cubicBezTo>
                  <a:pt x="79385" y="-4911"/>
                  <a:pt x="72643" y="-3125"/>
                  <a:pt x="59874" y="-3393"/>
                </a:cubicBezTo>
                <a:cubicBezTo>
                  <a:pt x="52864" y="-3572"/>
                  <a:pt x="46345" y="223"/>
                  <a:pt x="42952" y="6385"/>
                </a:cubicBezTo>
                <a:cubicBezTo>
                  <a:pt x="36835" y="17591"/>
                  <a:pt x="31879" y="22547"/>
                  <a:pt x="20672" y="28664"/>
                </a:cubicBezTo>
                <a:cubicBezTo>
                  <a:pt x="14511" y="32013"/>
                  <a:pt x="10760" y="38576"/>
                  <a:pt x="10894" y="45586"/>
                </a:cubicBezTo>
                <a:cubicBezTo>
                  <a:pt x="11207" y="58356"/>
                  <a:pt x="9376" y="65097"/>
                  <a:pt x="2724" y="75992"/>
                </a:cubicBezTo>
                <a:cubicBezTo>
                  <a:pt x="-938" y="81975"/>
                  <a:pt x="-938" y="89520"/>
                  <a:pt x="2724" y="95503"/>
                </a:cubicBezTo>
                <a:cubicBezTo>
                  <a:pt x="9376" y="106397"/>
                  <a:pt x="11162" y="113139"/>
                  <a:pt x="10894" y="125909"/>
                </a:cubicBezTo>
                <a:cubicBezTo>
                  <a:pt x="10716" y="132918"/>
                  <a:pt x="14511" y="139437"/>
                  <a:pt x="20672" y="142830"/>
                </a:cubicBezTo>
                <a:cubicBezTo>
                  <a:pt x="30540" y="148233"/>
                  <a:pt x="35540" y="152698"/>
                  <a:pt x="40809" y="161359"/>
                </a:cubicBezTo>
                <a:lnTo>
                  <a:pt x="19065" y="204713"/>
                </a:lnTo>
                <a:cubicBezTo>
                  <a:pt x="16431" y="210026"/>
                  <a:pt x="18574" y="216456"/>
                  <a:pt x="23842" y="219090"/>
                </a:cubicBezTo>
                <a:lnTo>
                  <a:pt x="62240" y="238289"/>
                </a:lnTo>
                <a:cubicBezTo>
                  <a:pt x="67374" y="240834"/>
                  <a:pt x="73625" y="238914"/>
                  <a:pt x="76393" y="233913"/>
                </a:cubicBezTo>
                <a:lnTo>
                  <a:pt x="99968" y="191453"/>
                </a:lnTo>
                <a:lnTo>
                  <a:pt x="123542" y="233913"/>
                </a:lnTo>
                <a:cubicBezTo>
                  <a:pt x="126310" y="238914"/>
                  <a:pt x="132561" y="240878"/>
                  <a:pt x="137696" y="238289"/>
                </a:cubicBezTo>
                <a:lnTo>
                  <a:pt x="176093" y="219090"/>
                </a:lnTo>
                <a:cubicBezTo>
                  <a:pt x="181407" y="216456"/>
                  <a:pt x="183550" y="210026"/>
                  <a:pt x="180871" y="204713"/>
                </a:cubicBezTo>
                <a:lnTo>
                  <a:pt x="159172" y="161315"/>
                </a:lnTo>
                <a:cubicBezTo>
                  <a:pt x="164396" y="152653"/>
                  <a:pt x="169441" y="148188"/>
                  <a:pt x="179308" y="142786"/>
                </a:cubicBezTo>
                <a:cubicBezTo>
                  <a:pt x="185470" y="139437"/>
                  <a:pt x="189220" y="132874"/>
                  <a:pt x="189086" y="125864"/>
                </a:cubicBezTo>
                <a:cubicBezTo>
                  <a:pt x="188774" y="113094"/>
                  <a:pt x="190604" y="106353"/>
                  <a:pt x="197257" y="95458"/>
                </a:cubicBezTo>
                <a:cubicBezTo>
                  <a:pt x="200918" y="89475"/>
                  <a:pt x="200918" y="81930"/>
                  <a:pt x="197257" y="75947"/>
                </a:cubicBezTo>
                <a:cubicBezTo>
                  <a:pt x="190604" y="65053"/>
                  <a:pt x="188818" y="58311"/>
                  <a:pt x="189086" y="45541"/>
                </a:cubicBezTo>
                <a:cubicBezTo>
                  <a:pt x="189265" y="38532"/>
                  <a:pt x="185470" y="32013"/>
                  <a:pt x="179308" y="28620"/>
                </a:cubicBezTo>
                <a:cubicBezTo>
                  <a:pt x="168101" y="22503"/>
                  <a:pt x="163145" y="17547"/>
                  <a:pt x="157029" y="6340"/>
                </a:cubicBezTo>
                <a:cubicBezTo>
                  <a:pt x="153680" y="179"/>
                  <a:pt x="147117" y="-3572"/>
                  <a:pt x="140107" y="-3438"/>
                </a:cubicBezTo>
                <a:cubicBezTo>
                  <a:pt x="127337" y="-3125"/>
                  <a:pt x="120595" y="-4956"/>
                  <a:pt x="109701" y="-11609"/>
                </a:cubicBezTo>
                <a:close/>
                <a:moveTo>
                  <a:pt x="100013" y="42863"/>
                </a:moveTo>
                <a:cubicBezTo>
                  <a:pt x="123669" y="42863"/>
                  <a:pt x="142875" y="62069"/>
                  <a:pt x="142875" y="85725"/>
                </a:cubicBezTo>
                <a:cubicBezTo>
                  <a:pt x="142875" y="109381"/>
                  <a:pt x="123669" y="128588"/>
                  <a:pt x="100013" y="128588"/>
                </a:cubicBezTo>
                <a:cubicBezTo>
                  <a:pt x="76356" y="128588"/>
                  <a:pt x="57150" y="109381"/>
                  <a:pt x="57150" y="85725"/>
                </a:cubicBezTo>
                <a:cubicBezTo>
                  <a:pt x="57150" y="62069"/>
                  <a:pt x="76356" y="42863"/>
                  <a:pt x="100012" y="42863"/>
                </a:cubicBezTo>
                <a:close/>
              </a:path>
            </a:pathLst>
          </a:custGeom>
          <a:solidFill>
            <a:srgbClr val="ECEFF4"/>
          </a:solidFill>
        </p:spPr>
      </p:sp>
      <p:sp>
        <p:nvSpPr>
          <p:cNvPr id="20" name="Text 17"/>
          <p:cNvSpPr/>
          <p:nvPr/>
        </p:nvSpPr>
        <p:spPr>
          <a:xfrm>
            <a:off x="7018020" y="2338705"/>
            <a:ext cx="371983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CEFF4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Достигнутые результаты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75095" y="29098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2" name="Text 19"/>
          <p:cNvSpPr/>
          <p:nvPr/>
        </p:nvSpPr>
        <p:spPr>
          <a:xfrm>
            <a:off x="6751320" y="2871788"/>
            <a:ext cx="3990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Корректный расчет всех статистических показателей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75095" y="32527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4" name="Text 21"/>
          <p:cNvSpPr/>
          <p:nvPr/>
        </p:nvSpPr>
        <p:spPr>
          <a:xfrm>
            <a:off x="6751320" y="3214688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Построение гистограмм распределения данных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75095" y="35956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26" name="Text 23"/>
          <p:cNvSpPr/>
          <p:nvPr/>
        </p:nvSpPr>
        <p:spPr>
          <a:xfrm>
            <a:off x="6751320" y="3557588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Сохранение результатов в текстовый файл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42010" y="4712016"/>
            <a:ext cx="10504170" cy="1083945"/>
          </a:xfrm>
          <a:custGeom>
            <a:avLst/>
            <a:gdLst/>
            <a:ahLst/>
            <a:cxnLst/>
            <a:rect l="l" t="t" r="r" b="b"/>
            <a:pathLst>
              <a:path w="10504170" h="1083945">
                <a:moveTo>
                  <a:pt x="114302" y="0"/>
                </a:moveTo>
                <a:lnTo>
                  <a:pt x="10389868" y="0"/>
                </a:lnTo>
                <a:cubicBezTo>
                  <a:pt x="10452995" y="0"/>
                  <a:pt x="10504170" y="51175"/>
                  <a:pt x="10504170" y="114302"/>
                </a:cubicBezTo>
                <a:lnTo>
                  <a:pt x="10504170" y="969643"/>
                </a:lnTo>
                <a:cubicBezTo>
                  <a:pt x="10504170" y="1032770"/>
                  <a:pt x="10452995" y="1083945"/>
                  <a:pt x="10389868" y="1083945"/>
                </a:cubicBezTo>
                <a:lnTo>
                  <a:pt x="114302" y="1083945"/>
                </a:lnTo>
                <a:cubicBezTo>
                  <a:pt x="51175" y="1083945"/>
                  <a:pt x="0" y="1032770"/>
                  <a:pt x="0" y="96964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E81AC">
              <a:alpha val="20000"/>
            </a:srgbClr>
          </a:solidFill>
          <a:ln w="10160">
            <a:solidFill>
              <a:srgbClr val="5E81AC">
                <a:alpha val="5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10139" y="50053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80367"/>
                </a:moveTo>
                <a:cubicBezTo>
                  <a:pt x="0" y="55699"/>
                  <a:pt x="19980" y="35719"/>
                  <a:pt x="44648" y="35719"/>
                </a:cubicBezTo>
                <a:lnTo>
                  <a:pt x="47625" y="35719"/>
                </a:lnTo>
                <a:cubicBezTo>
                  <a:pt x="54211" y="35719"/>
                  <a:pt x="59531" y="41039"/>
                  <a:pt x="59531" y="47625"/>
                </a:cubicBezTo>
                <a:cubicBezTo>
                  <a:pt x="59531" y="54211"/>
                  <a:pt x="54211" y="59531"/>
                  <a:pt x="47625" y="59531"/>
                </a:cubicBezTo>
                <a:lnTo>
                  <a:pt x="44648" y="59531"/>
                </a:lnTo>
                <a:cubicBezTo>
                  <a:pt x="33151" y="59531"/>
                  <a:pt x="23812" y="68870"/>
                  <a:pt x="23812" y="80367"/>
                </a:cubicBezTo>
                <a:lnTo>
                  <a:pt x="23812" y="83344"/>
                </a:lnTo>
                <a:lnTo>
                  <a:pt x="47625" y="83344"/>
                </a:lnTo>
                <a:cubicBezTo>
                  <a:pt x="60759" y="83344"/>
                  <a:pt x="71438" y="94022"/>
                  <a:pt x="71438" y="107156"/>
                </a:cubicBezTo>
                <a:lnTo>
                  <a:pt x="71438" y="130969"/>
                </a:lnTo>
                <a:cubicBezTo>
                  <a:pt x="71438" y="144103"/>
                  <a:pt x="60759" y="154781"/>
                  <a:pt x="47625" y="154781"/>
                </a:cubicBezTo>
                <a:lnTo>
                  <a:pt x="23812" y="154781"/>
                </a:lnTo>
                <a:cubicBezTo>
                  <a:pt x="10678" y="154781"/>
                  <a:pt x="0" y="144103"/>
                  <a:pt x="0" y="130969"/>
                </a:cubicBezTo>
                <a:lnTo>
                  <a:pt x="0" y="80367"/>
                </a:lnTo>
                <a:close/>
                <a:moveTo>
                  <a:pt x="95250" y="80367"/>
                </a:moveTo>
                <a:cubicBezTo>
                  <a:pt x="95250" y="55699"/>
                  <a:pt x="115230" y="35719"/>
                  <a:pt x="139898" y="35719"/>
                </a:cubicBezTo>
                <a:lnTo>
                  <a:pt x="142875" y="35719"/>
                </a:lnTo>
                <a:cubicBezTo>
                  <a:pt x="149461" y="35719"/>
                  <a:pt x="154781" y="41039"/>
                  <a:pt x="154781" y="47625"/>
                </a:cubicBezTo>
                <a:cubicBezTo>
                  <a:pt x="154781" y="54211"/>
                  <a:pt x="149461" y="59531"/>
                  <a:pt x="142875" y="59531"/>
                </a:cubicBezTo>
                <a:lnTo>
                  <a:pt x="139898" y="59531"/>
                </a:lnTo>
                <a:cubicBezTo>
                  <a:pt x="128401" y="59531"/>
                  <a:pt x="119063" y="68870"/>
                  <a:pt x="119063" y="80367"/>
                </a:cubicBezTo>
                <a:lnTo>
                  <a:pt x="119063" y="83344"/>
                </a:lnTo>
                <a:lnTo>
                  <a:pt x="142875" y="83344"/>
                </a:lnTo>
                <a:cubicBezTo>
                  <a:pt x="156009" y="83344"/>
                  <a:pt x="166688" y="94022"/>
                  <a:pt x="166688" y="107156"/>
                </a:cubicBezTo>
                <a:lnTo>
                  <a:pt x="166688" y="130969"/>
                </a:lnTo>
                <a:cubicBezTo>
                  <a:pt x="166688" y="144103"/>
                  <a:pt x="156009" y="154781"/>
                  <a:pt x="142875" y="154781"/>
                </a:cubicBezTo>
                <a:lnTo>
                  <a:pt x="119063" y="154781"/>
                </a:lnTo>
                <a:cubicBezTo>
                  <a:pt x="105928" y="154781"/>
                  <a:pt x="95250" y="144103"/>
                  <a:pt x="95250" y="130969"/>
                </a:cubicBezTo>
                <a:lnTo>
                  <a:pt x="95250" y="80367"/>
                </a:lnTo>
                <a:close/>
              </a:path>
            </a:pathLst>
          </a:custGeom>
          <a:solidFill>
            <a:srgbClr val="5E81AC"/>
          </a:solidFill>
        </p:spPr>
      </p:sp>
      <p:sp>
        <p:nvSpPr>
          <p:cNvPr id="29" name="Text 26"/>
          <p:cNvSpPr/>
          <p:nvPr/>
        </p:nvSpPr>
        <p:spPr>
          <a:xfrm>
            <a:off x="1398270" y="4944433"/>
            <a:ext cx="9810750" cy="619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Проект отвечает </a:t>
            </a: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функциональным</a:t>
            </a:r>
            <a:r>
              <a:rPr lang="en-US" sz="15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 и </a:t>
            </a:r>
            <a:r>
              <a:rPr lang="en-US" sz="1500" b="1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нефункциональным требованиям</a:t>
            </a:r>
            <a:r>
              <a:rPr lang="en-US" sz="1500" dirty="0">
                <a:solidFill>
                  <a:srgbClr val="ECEFF4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, демонстрирует применение базовых статистических методов и преобразования систем счисления на практике.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342799" y="603790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1" name="Text 28"/>
          <p:cNvSpPr/>
          <p:nvPr/>
        </p:nvSpPr>
        <p:spPr>
          <a:xfrm>
            <a:off x="3758327" y="6047426"/>
            <a:ext cx="638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Python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612362" y="6028376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</p:spPr>
      </p:sp>
      <p:sp>
        <p:nvSpPr>
          <p:cNvPr id="33" name="Shape 30"/>
          <p:cNvSpPr/>
          <p:nvPr/>
        </p:nvSpPr>
        <p:spPr>
          <a:xfrm>
            <a:off x="4955262" y="606647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4" name="Text 31"/>
          <p:cNvSpPr/>
          <p:nvPr/>
        </p:nvSpPr>
        <p:spPr>
          <a:xfrm>
            <a:off x="5326737" y="6047426"/>
            <a:ext cx="10096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Статистика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553676" y="6028376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4A5C6A"/>
          </a:solidFill>
        </p:spPr>
      </p:sp>
      <p:sp>
        <p:nvSpPr>
          <p:cNvPr id="36" name="Shape 33"/>
          <p:cNvSpPr/>
          <p:nvPr/>
        </p:nvSpPr>
        <p:spPr>
          <a:xfrm>
            <a:off x="6882289" y="6066476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5E81AC"/>
          </a:solidFill>
        </p:spPr>
      </p:sp>
      <p:sp>
        <p:nvSpPr>
          <p:cNvPr id="37" name="Text 34"/>
          <p:cNvSpPr/>
          <p:nvPr/>
        </p:nvSpPr>
        <p:spPr>
          <a:xfrm>
            <a:off x="7268051" y="6047426"/>
            <a:ext cx="17240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0"/>
              </a:rPr>
              <a:t>Системы счисления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7884</Words>
  <Application>WPS 演示</Application>
  <PresentationFormat>On-screen Show (16:9)</PresentationFormat>
  <Paragraphs>581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MiSans</vt:lpstr>
      <vt:lpstr>MiSans</vt:lpstr>
      <vt:lpstr>Alimama ShuHeiTi</vt:lpstr>
      <vt:lpstr>Alimama ShuHeiTi</vt:lpstr>
      <vt:lpstr>微软雅黑</vt:lpstr>
      <vt:lpstr>微软雅黑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Статистика и системы счисления</dc:title>
  <dc:creator>Kimi</dc:creator>
  <dc:subject>Статистика и системы счисления</dc:subject>
  <cp:lastModifiedBy>秋枫</cp:lastModifiedBy>
  <cp:revision>2</cp:revision>
  <dcterms:created xsi:type="dcterms:W3CDTF">2026-04-08T21:20:00Z</dcterms:created>
  <dcterms:modified xsi:type="dcterms:W3CDTF">2026-04-08T21:35:21Z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{"Label":"Статистика и системы счисления","ContentProducer":"001191110108MACG2KBH8F10000","ProduceID":"19d6eee1-a902-8479-8000-0000de6fe4ee","ReservedCode1":"","ContentPropagator":"001191110108MACG2KBH8F20000","PropagateID":"19d6eee1-a902-8479-8000-0000de6fe4ee","ReservedCode2":""}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1EAD7BA31EDB44DAA1E11260452F5827_12</vt:lpwstr>
  </property>
</Properties>
</file>